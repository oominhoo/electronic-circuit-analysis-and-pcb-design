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comment1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99" r:id="rId1"/>
  </p:sldMasterIdLst>
  <p:sldIdLst>
    <p:sldId id="256" r:id="rId2"/>
    <p:sldId id="257" r:id="rId3"/>
    <p:sldId id="261" r:id="rId4"/>
    <p:sldId id="262" r:id="rId5"/>
    <p:sldId id="258" r:id="rId6"/>
    <p:sldId id="259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민호 엄" initials="민엄" lastIdx="1" clrIdx="0">
    <p:extLst>
      <p:ext uri="{19B8F6BF-5375-455C-9EA6-DF929625EA0E}">
        <p15:presenceInfo xmlns:p15="http://schemas.microsoft.com/office/powerpoint/2012/main" userId="6c55a91e23b90112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07-03T17:05:59.300" idx="1">
    <p:pos x="10" y="10"/>
    <p:text/>
    <p:extLst>
      <p:ext uri="{C676402C-5697-4E1C-873F-D02D1690AC5C}">
        <p15:threadingInfo xmlns:p15="http://schemas.microsoft.com/office/powerpoint/2012/main" timeZoneBias="-540"/>
      </p:ext>
    </p:extLst>
  </p:cm>
</p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C0957C-441E-EC1B-E353-391166106A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62C1C14-1D76-303C-A983-3778AEF293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FAA8653-E97D-99FC-DAC0-0120DFA01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7/3/2025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4AD4A0E-9D72-7427-E3A6-35508EEB9B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CF75910-A6DC-DE30-E4A1-E06AB44BC2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3431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600537-2E73-D934-E99A-86EDD73D4A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8221012-03CC-ACEE-A711-C97D38A0FC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EB88C63-4F68-CE61-04A3-D74604D15C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7/3/2025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C37C9C6-FAA5-FA12-89F5-313BD4FD42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F9126E2-52CD-0B6F-0711-DC1A17468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23648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B48D795-8E9B-0055-4285-7A26588D50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5B6ACA6-9A55-191C-5230-12B2C6EF9A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57CAE2A-195D-E12F-6A58-1C1583EAF8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7/3/2025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206D34B-D3C4-A79D-EC8F-7643604C8C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78680C8-5584-C2F8-4EEE-4366EAC48C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1746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044E6E-D751-EB25-319D-EC6E109613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9B952B6-4D81-C1F2-91E8-72EE3E7578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BCE2499-4F98-2808-0D19-010077E0AB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648EC9F-63D5-BD52-503E-D90EF99E2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7/3/2025</a:t>
            </a:fld>
            <a:endParaRPr 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87259E8-59BB-25E6-BC4E-19EA914B9B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531907D-C473-EF9B-BDE3-170371C023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69212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4888D7-1600-820B-DC84-611B89B494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86D71D5-FEFB-3385-763F-A965120EBF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E1F6968-D611-0CA2-5000-420AA83AB5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A3BC544-64DD-C268-1824-2FE7221A9E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A036EF8-17AD-B442-6561-90A4339EE4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036275E7-AC18-8D5B-D269-EDEA929700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7/3/2025</a:t>
            </a:fld>
            <a:endParaRPr lang="en-US" dirty="0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792CB92-1427-1E8D-42B4-79E5E0FD1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191D489-E636-71A8-A191-CF5E2F9B03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23136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A190D7-2574-2ECC-930F-4DC316D85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33C7CC1-2A69-7798-4187-2C070293D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7/3/2025</a:t>
            </a:fld>
            <a:endParaRPr 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EFF96ED-7B32-5957-93B1-7F4B3A9E21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C06601A-286C-10E9-9C52-F8A6FC940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38033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666CDBE-F473-F9BB-B444-E8664E3F8B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7/3/2025</a:t>
            </a:fld>
            <a:endParaRPr lang="en-US" dirty="0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A8DE6D2-0AC4-774C-E789-B9C9C045C3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ADE1C63-EA2B-9EAB-95C4-4CE2D07E38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14251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5546B0-4308-AAD4-F382-BD923A8EA5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974472D-6C59-7772-135C-B085F516CD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29F295F-9D48-AD8C-0B8A-CA7BECD4D1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A7BA52A-EE30-5B5F-AED2-C1836223D3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7/3/2025</a:t>
            </a:fld>
            <a:endParaRPr 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BD5C52D-A0CB-05CC-889C-9CECD8295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E27DC3A-3210-955D-9469-44A787A9F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03601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AC12F6-CC87-E7FC-0B0F-66C6640A5C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B0EDF69E-2D53-C02D-C490-A46D5BA6E65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1D6B49E-E47D-D23D-89D5-E1708CAD9F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154B218-09E0-7132-5B63-52D9BA3C80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7/3/2025</a:t>
            </a:fld>
            <a:endParaRPr 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FFB0A5E-4AD0-F8D0-6A96-30E5ED60A0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D4B7435-CED7-AAA7-B3FD-76111E699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5316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81C19A-DB09-0386-329E-416BFB13C0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35723E4-CEAA-2139-B3B2-D71DA5B28F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B5E51DD-CAC2-0AD1-1D01-64C6598FF3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7/3/2025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96EB2CD-0D16-1A1F-66FD-A35442E4F6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44E6A50-0A1C-E8A1-5621-FAF7BA2EB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9624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913E04C9-55F6-76D0-E4A4-4F63EA60AE2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A583C98-E60E-53DD-C798-6ED16DEA1F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D5AB878-76C6-28D5-97C6-C193FA3D83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7/3/2025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871BB9C-021F-D012-71C6-805C9B29E3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D686107-BA35-197C-138F-533F14DA56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9871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5B86D13-C3D0-3622-BE55-31B0B0342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88BC0A5-7263-4533-F5D8-CABC6AFD49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9C88E60-C567-5F7B-B42D-4F7A845281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7/3/2025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37C6C08-7DDF-11C3-2664-7DA87440F0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66CD903-2E2F-E29F-9592-F3659546FF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48650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0" r:id="rId1"/>
    <p:sldLayoutId id="2147483801" r:id="rId2"/>
    <p:sldLayoutId id="2147483802" r:id="rId3"/>
    <p:sldLayoutId id="2147483803" r:id="rId4"/>
    <p:sldLayoutId id="2147483804" r:id="rId5"/>
    <p:sldLayoutId id="2147483805" r:id="rId6"/>
    <p:sldLayoutId id="2147483806" r:id="rId7"/>
    <p:sldLayoutId id="2147483807" r:id="rId8"/>
    <p:sldLayoutId id="2147483808" r:id="rId9"/>
    <p:sldLayoutId id="2147483809" r:id="rId10"/>
    <p:sldLayoutId id="2147483810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comments" Target="../comments/commen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5C6066-7A40-07DE-A015-0A045341AF1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altLang="ko-KR" dirty="0"/>
              <a:t>HW_4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829CE8D-EEED-543D-2CEE-460439FBC0B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/>
              <a:t>엄민호</a:t>
            </a:r>
          </a:p>
        </p:txBody>
      </p:sp>
    </p:spTree>
    <p:extLst>
      <p:ext uri="{BB962C8B-B14F-4D97-AF65-F5344CB8AC3E}">
        <p14:creationId xmlns:p14="http://schemas.microsoft.com/office/powerpoint/2010/main" val="11661462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0969DC1-4E46-5258-87ED-CDBA00015B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160" y="961003"/>
            <a:ext cx="3310876" cy="212966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573B26F-47BE-D0EB-F2BE-682B0B201591}"/>
              </a:ext>
            </a:extLst>
          </p:cNvPr>
          <p:cNvSpPr txBox="1"/>
          <p:nvPr/>
        </p:nvSpPr>
        <p:spPr>
          <a:xfrm>
            <a:off x="636494" y="591671"/>
            <a:ext cx="67235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1. G</a:t>
            </a:r>
            <a:r>
              <a:rPr lang="ko-KR" altLang="en-US" dirty="0"/>
              <a:t>와 </a:t>
            </a:r>
            <a:r>
              <a:rPr lang="en-US" altLang="ko-KR" dirty="0"/>
              <a:t>H </a:t>
            </a:r>
            <a:r>
              <a:rPr lang="ko-KR" altLang="en-US" dirty="0"/>
              <a:t>노드에서의 </a:t>
            </a:r>
            <a:r>
              <a:rPr lang="en-US" altLang="ko-KR" dirty="0"/>
              <a:t>Thevenin/Norton </a:t>
            </a:r>
            <a:r>
              <a:rPr lang="ko-KR" altLang="en-US" dirty="0"/>
              <a:t>등가회로를 구하라</a:t>
            </a: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41694FF6-CAFD-D984-0CDD-CA7E074ECAE7}"/>
              </a:ext>
            </a:extLst>
          </p:cNvPr>
          <p:cNvSpPr/>
          <p:nvPr/>
        </p:nvSpPr>
        <p:spPr>
          <a:xfrm>
            <a:off x="1595718" y="1353671"/>
            <a:ext cx="80682" cy="13447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EC2BEC3-08BB-7976-8CCA-817F558AEE27}"/>
              </a:ext>
            </a:extLst>
          </p:cNvPr>
          <p:cNvSpPr txBox="1"/>
          <p:nvPr/>
        </p:nvSpPr>
        <p:spPr>
          <a:xfrm>
            <a:off x="1497106" y="1113403"/>
            <a:ext cx="33169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</a:rPr>
              <a:t>A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E77D44BD-4E8D-CC16-0F30-2A5B9E66CE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3611" y="989403"/>
            <a:ext cx="4252826" cy="4879193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1A2399BD-0626-7640-09F0-077A4D0CE1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4398" y="3428999"/>
            <a:ext cx="4742329" cy="1873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64563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B69F21-B5C1-0A31-9514-1F57914E07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4168B486-9A2A-31C0-8930-893359DE8E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3" y="0"/>
            <a:ext cx="5487724" cy="2953671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B0A121F7-D09A-A42A-5107-567CA48BBD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225" y="2953671"/>
            <a:ext cx="5053792" cy="302597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56CE7C5-54F2-62AF-7609-905434BBAD76}"/>
              </a:ext>
            </a:extLst>
          </p:cNvPr>
          <p:cNvSpPr txBox="1"/>
          <p:nvPr/>
        </p:nvSpPr>
        <p:spPr>
          <a:xfrm>
            <a:off x="6159687" y="830125"/>
            <a:ext cx="24016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Voc</a:t>
            </a:r>
            <a:r>
              <a:rPr lang="en-US" altLang="ko-KR" dirty="0"/>
              <a:t> = 3V</a:t>
            </a:r>
            <a:endParaRPr lang="ko-KR" altLang="en-US" dirty="0"/>
          </a:p>
        </p:txBody>
      </p:sp>
      <p:sp>
        <p:nvSpPr>
          <p:cNvPr id="9" name="화살표: 오른쪽 8">
            <a:extLst>
              <a:ext uri="{FF2B5EF4-FFF2-40B4-BE49-F238E27FC236}">
                <a16:creationId xmlns:a16="http://schemas.microsoft.com/office/drawing/2014/main" id="{ABBF52AF-D74C-7475-1376-CB2408E095EA}"/>
              </a:ext>
            </a:extLst>
          </p:cNvPr>
          <p:cNvSpPr/>
          <p:nvPr/>
        </p:nvSpPr>
        <p:spPr>
          <a:xfrm>
            <a:off x="5262282" y="860612"/>
            <a:ext cx="564777" cy="34065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화살표: 오른쪽 9">
            <a:extLst>
              <a:ext uri="{FF2B5EF4-FFF2-40B4-BE49-F238E27FC236}">
                <a16:creationId xmlns:a16="http://schemas.microsoft.com/office/drawing/2014/main" id="{1BC087D6-4FF1-0182-E8BD-58FC388D2FF4}"/>
              </a:ext>
            </a:extLst>
          </p:cNvPr>
          <p:cNvSpPr/>
          <p:nvPr/>
        </p:nvSpPr>
        <p:spPr>
          <a:xfrm>
            <a:off x="5531223" y="3989294"/>
            <a:ext cx="564777" cy="34065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92055B5-0050-06AA-5C08-0B1617072923}"/>
              </a:ext>
            </a:extLst>
          </p:cNvPr>
          <p:cNvSpPr txBox="1"/>
          <p:nvPr/>
        </p:nvSpPr>
        <p:spPr>
          <a:xfrm>
            <a:off x="6159687" y="3989294"/>
            <a:ext cx="2025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Isc</a:t>
            </a:r>
            <a:r>
              <a:rPr lang="en-US" altLang="ko-KR" dirty="0"/>
              <a:t> = 2mA</a:t>
            </a:r>
            <a:endParaRPr lang="ko-KR" altLang="en-US" dirty="0"/>
          </a:p>
        </p:txBody>
      </p:sp>
      <p:sp>
        <p:nvSpPr>
          <p:cNvPr id="12" name="화살표: 오른쪽 11">
            <a:extLst>
              <a:ext uri="{FF2B5EF4-FFF2-40B4-BE49-F238E27FC236}">
                <a16:creationId xmlns:a16="http://schemas.microsoft.com/office/drawing/2014/main" id="{69466420-638F-D06B-5B6B-DEB31D4E9558}"/>
              </a:ext>
            </a:extLst>
          </p:cNvPr>
          <p:cNvSpPr/>
          <p:nvPr/>
        </p:nvSpPr>
        <p:spPr>
          <a:xfrm>
            <a:off x="5755341" y="2303929"/>
            <a:ext cx="1066800" cy="95922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E86D517-E443-09BE-1924-E3EA911AC070}"/>
              </a:ext>
            </a:extLst>
          </p:cNvPr>
          <p:cNvSpPr txBox="1"/>
          <p:nvPr/>
        </p:nvSpPr>
        <p:spPr>
          <a:xfrm>
            <a:off x="7009465" y="2598875"/>
            <a:ext cx="14702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Rth</a:t>
            </a:r>
            <a:r>
              <a:rPr lang="en-US" altLang="ko-KR" dirty="0"/>
              <a:t> = 1.5K</a:t>
            </a:r>
            <a:r>
              <a:rPr lang="el-GR" altLang="ko-KR" dirty="0"/>
              <a:t> Ω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287382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>
            <a:extLst>
              <a:ext uri="{FF2B5EF4-FFF2-40B4-BE49-F238E27FC236}">
                <a16:creationId xmlns:a16="http://schemas.microsoft.com/office/drawing/2014/main" id="{75A55E6F-BA4D-53CC-044A-98EC09176F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5434" y="739429"/>
            <a:ext cx="8301319" cy="40626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kumimoji="0" lang="ko-KR" altLang="ko-K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📘  필터와 대역폭의 기본 개념</a:t>
            </a: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endParaRPr kumimoji="0" lang="ko-KR" altLang="ko-KR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kumimoji="0" lang="ko-KR" altLang="ko-K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✅ </a:t>
            </a:r>
            <a:r>
              <a:rPr kumimoji="0" lang="ko-KR" altLang="ko-KR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</a:t>
            </a:r>
            <a:r>
              <a:rPr kumimoji="0" lang="ko-KR" altLang="ko-K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ko-KR" altLang="ko-KR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Bandwidth</a:t>
            </a:r>
            <a:r>
              <a:rPr kumimoji="0" lang="ko-KR" altLang="ko-K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대역폭)</a:t>
            </a: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ko-KR" altLang="ko-K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뜻:</a:t>
            </a:r>
            <a:r>
              <a:rPr lang="ko-KR" altLang="ko-KR" sz="2000" dirty="0">
                <a:latin typeface="Arial" panose="020B0604020202020204" pitchFamily="34" charset="0"/>
              </a:rPr>
              <a:t> 통과 가능한 주파수 범위</a:t>
            </a: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sz="2000" b="1" dirty="0">
                <a:latin typeface="Arial" panose="020B0604020202020204" pitchFamily="34" charset="0"/>
              </a:rPr>
              <a:t>정의:</a:t>
            </a:r>
            <a:r>
              <a:rPr lang="ko-KR" altLang="ko-KR" sz="2000" dirty="0">
                <a:latin typeface="Arial" panose="020B0604020202020204" pitchFamily="34" charset="0"/>
              </a:rPr>
              <a:t> 위쪽 경계 주파수(</a:t>
            </a:r>
            <a:r>
              <a:rPr lang="ko-KR" altLang="ko-KR" sz="2000" dirty="0" err="1">
                <a:latin typeface="Arial" panose="020B0604020202020204" pitchFamily="34" charset="0"/>
              </a:rPr>
              <a:t>f_H</a:t>
            </a:r>
            <a:r>
              <a:rPr lang="ko-KR" altLang="ko-KR" sz="2000" dirty="0">
                <a:latin typeface="Arial" panose="020B0604020202020204" pitchFamily="34" charset="0"/>
              </a:rPr>
              <a:t>) − 아래쪽 경계 주파수(</a:t>
            </a:r>
            <a:r>
              <a:rPr lang="ko-KR" altLang="ko-KR" sz="2000" dirty="0" err="1">
                <a:latin typeface="Arial" panose="020B0604020202020204" pitchFamily="34" charset="0"/>
              </a:rPr>
              <a:t>f_L</a:t>
            </a:r>
            <a:r>
              <a:rPr lang="ko-KR" altLang="ko-KR" sz="2000" dirty="0">
                <a:latin typeface="Arial" panose="020B0604020202020204" pitchFamily="34" charset="0"/>
              </a:rPr>
              <a:t>)</a:t>
            </a: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sz="2000" b="1" dirty="0">
                <a:latin typeface="Arial" panose="020B0604020202020204" pitchFamily="34" charset="0"/>
              </a:rPr>
              <a:t>공식:</a:t>
            </a:r>
            <a:r>
              <a:rPr lang="ko-KR" altLang="ko-KR" sz="2000" dirty="0">
                <a:latin typeface="Arial" panose="020B0604020202020204" pitchFamily="34" charset="0"/>
              </a:rPr>
              <a:t> </a:t>
            </a:r>
            <a:r>
              <a:rPr kumimoji="0" lang="ko-KR" altLang="ko-K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B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= </a:t>
            </a:r>
            <a:r>
              <a:rPr kumimoji="0" lang="ko-KR" altLang="ko-K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f_H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− </a:t>
            </a:r>
            <a:r>
              <a:rPr kumimoji="0" lang="ko-KR" altLang="ko-K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f_L</a:t>
            </a:r>
            <a:endParaRPr kumimoji="0" lang="ko-KR" altLang="ko-K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endParaRPr kumimoji="0" lang="ko-KR" altLang="ko-KR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kumimoji="0" lang="ko-KR" altLang="ko-K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✅ BW(</a:t>
            </a:r>
            <a:r>
              <a:rPr kumimoji="0" lang="ko-KR" altLang="ko-KR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Fractional</a:t>
            </a:r>
            <a:r>
              <a:rPr kumimoji="0" lang="ko-KR" altLang="ko-K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Bandwidth</a:t>
            </a:r>
            <a:r>
              <a:rPr kumimoji="0" lang="ko-KR" altLang="ko-K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ko-KR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정규화 대역폭</a:t>
            </a:r>
            <a:r>
              <a:rPr kumimoji="0" lang="ko-KR" altLang="ko-K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ko-KR" altLang="ko-K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뜻:</a:t>
            </a:r>
            <a:r>
              <a:rPr lang="ko-KR" altLang="ko-KR" sz="2000" dirty="0">
                <a:latin typeface="Arial" panose="020B0604020202020204" pitchFamily="34" charset="0"/>
              </a:rPr>
              <a:t> 대역폭을 중심주파수로 나눈 값 (비율)</a:t>
            </a: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sz="2000" b="1" dirty="0">
                <a:latin typeface="Arial" panose="020B0604020202020204" pitchFamily="34" charset="0"/>
              </a:rPr>
              <a:t>정의:</a:t>
            </a:r>
            <a:r>
              <a:rPr lang="ko-KR" altLang="ko-KR" sz="2000" dirty="0">
                <a:latin typeface="Arial" panose="020B0604020202020204" pitchFamily="34" charset="0"/>
              </a:rPr>
              <a:t> 얼마나 넓은 범위를 커버하는지를 비율로 표시</a:t>
            </a: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sz="2000" b="1" dirty="0">
                <a:latin typeface="Arial" panose="020B0604020202020204" pitchFamily="34" charset="0"/>
              </a:rPr>
              <a:t>공식:</a:t>
            </a:r>
            <a:r>
              <a:rPr lang="ko-KR" altLang="ko-KR" sz="2000" dirty="0">
                <a:latin typeface="Arial" panose="020B0604020202020204" pitchFamily="34" charset="0"/>
              </a:rPr>
              <a:t> 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BW = (</a:t>
            </a:r>
            <a:r>
              <a:rPr kumimoji="0" lang="ko-KR" altLang="ko-K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f_H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− </a:t>
            </a:r>
            <a:r>
              <a:rPr kumimoji="0" lang="ko-KR" altLang="ko-K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f_L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) / </a:t>
            </a:r>
            <a:r>
              <a:rPr kumimoji="0" lang="ko-KR" altLang="ko-K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f_C</a:t>
            </a:r>
            <a:b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ko-KR" altLang="ko-K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f_C는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중심주파수)</a:t>
            </a:r>
            <a:endParaRPr lang="ko-KR" altLang="ko-KR" sz="20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74140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818C7B-BE8B-AE77-C3D1-59079FBD54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4CDB2D0C-C954-3FC1-BD8E-854BE63C7D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3036" y="535900"/>
            <a:ext cx="4912659" cy="57861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kumimoji="0" lang="ko-KR" altLang="ko-K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📘 [PPT 2] 필터 종류와 특징 요약</a:t>
            </a: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endParaRPr lang="en-US" altLang="ko-KR" sz="2000" b="1" dirty="0">
              <a:latin typeface="Arial" panose="020B0604020202020204" pitchFamily="34" charset="0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endParaRPr lang="ko-KR" altLang="ko-KR" sz="2000" b="1" dirty="0">
              <a:latin typeface="Arial" panose="020B0604020202020204" pitchFamily="34" charset="0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ko-KR" altLang="ko-KR" sz="2000" b="1" dirty="0">
                <a:latin typeface="Arial" panose="020B0604020202020204" pitchFamily="34" charset="0"/>
              </a:rPr>
              <a:t>🔹 LPF (</a:t>
            </a:r>
            <a:r>
              <a:rPr lang="ko-KR" altLang="ko-KR" sz="2000" b="1" dirty="0" err="1">
                <a:latin typeface="Arial" panose="020B0604020202020204" pitchFamily="34" charset="0"/>
              </a:rPr>
              <a:t>Low-Pass</a:t>
            </a:r>
            <a:r>
              <a:rPr lang="ko-KR" altLang="ko-KR" sz="2000" b="1" dirty="0">
                <a:latin typeface="Arial" panose="020B0604020202020204" pitchFamily="34" charset="0"/>
              </a:rPr>
              <a:t> </a:t>
            </a:r>
            <a:r>
              <a:rPr lang="ko-KR" altLang="ko-KR" sz="2000" b="1" dirty="0" err="1">
                <a:latin typeface="Arial" panose="020B0604020202020204" pitchFamily="34" charset="0"/>
              </a:rPr>
              <a:t>Filter</a:t>
            </a:r>
            <a:r>
              <a:rPr lang="ko-KR" altLang="ko-KR" sz="2000" b="1" dirty="0">
                <a:latin typeface="Arial" panose="020B0604020202020204" pitchFamily="34" charset="0"/>
              </a:rPr>
              <a:t>) - </a:t>
            </a:r>
            <a:r>
              <a:rPr lang="ko-KR" altLang="ko-KR" sz="2000" b="1" dirty="0" err="1">
                <a:latin typeface="Arial" panose="020B0604020202020204" pitchFamily="34" charset="0"/>
              </a:rPr>
              <a:t>저역</a:t>
            </a:r>
            <a:r>
              <a:rPr lang="ko-KR" altLang="ko-KR" sz="2000" b="1" dirty="0">
                <a:latin typeface="Arial" panose="020B0604020202020204" pitchFamily="34" charset="0"/>
              </a:rPr>
              <a:t> 통과</a:t>
            </a: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sz="2000" b="1" dirty="0">
                <a:latin typeface="Arial" panose="020B0604020202020204" pitchFamily="34" charset="0"/>
              </a:rPr>
              <a:t>역할: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낮은 주파수만 통과, 고주파는 막음</a:t>
            </a: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ko-KR" altLang="ko-K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예: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저음만 통과시키는 오디오 필터</a:t>
            </a: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ko-KR" altLang="ko-KR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차단점</a:t>
            </a:r>
            <a:r>
              <a:rPr kumimoji="0" lang="ko-KR" altLang="ko-K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f_c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= 1 / (2πRC)</a:t>
            </a:r>
            <a:endParaRPr kumimoji="0" lang="en-US" altLang="ko-K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ko-KR" altLang="ko-KR" sz="2000" dirty="0"/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endParaRPr lang="ko-KR" altLang="ko-KR" sz="2000" b="1" dirty="0">
              <a:latin typeface="Arial" panose="020B0604020202020204" pitchFamily="34" charset="0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ko-KR" altLang="ko-KR" sz="2000" b="1" dirty="0">
                <a:latin typeface="Arial" panose="020B0604020202020204" pitchFamily="34" charset="0"/>
              </a:rPr>
              <a:t>🔹 HPF (</a:t>
            </a:r>
            <a:r>
              <a:rPr lang="ko-KR" altLang="ko-KR" sz="2000" b="1" dirty="0" err="1">
                <a:latin typeface="Arial" panose="020B0604020202020204" pitchFamily="34" charset="0"/>
              </a:rPr>
              <a:t>High-Pass</a:t>
            </a:r>
            <a:r>
              <a:rPr lang="ko-KR" altLang="ko-KR" sz="2000" b="1" dirty="0">
                <a:latin typeface="Arial" panose="020B0604020202020204" pitchFamily="34" charset="0"/>
              </a:rPr>
              <a:t> </a:t>
            </a:r>
            <a:r>
              <a:rPr lang="ko-KR" altLang="ko-KR" sz="2000" b="1" dirty="0" err="1">
                <a:latin typeface="Arial" panose="020B0604020202020204" pitchFamily="34" charset="0"/>
              </a:rPr>
              <a:t>Filter</a:t>
            </a:r>
            <a:r>
              <a:rPr lang="ko-KR" altLang="ko-KR" sz="2000" b="1" dirty="0">
                <a:latin typeface="Arial" panose="020B0604020202020204" pitchFamily="34" charset="0"/>
              </a:rPr>
              <a:t>) - 고역 통과</a:t>
            </a: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sz="2000" b="1" dirty="0">
                <a:latin typeface="Arial" panose="020B0604020202020204" pitchFamily="34" charset="0"/>
              </a:rPr>
              <a:t>역할: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높은 주파수만 통과, 저주파는 막음</a:t>
            </a: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ko-KR" altLang="ko-K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예: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고음만 듣고 싶을 때</a:t>
            </a: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ko-KR" altLang="ko-KR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차단점</a:t>
            </a:r>
            <a:r>
              <a:rPr kumimoji="0" lang="ko-KR" altLang="ko-K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f_c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= 1 / (2πRC)</a:t>
            </a:r>
            <a:endParaRPr lang="ko-KR" altLang="ko-KR" sz="2000" dirty="0"/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endParaRPr lang="ko-KR" altLang="ko-KR" sz="2000" b="1" dirty="0">
              <a:latin typeface="Arial" panose="020B0604020202020204" pitchFamily="34" charset="0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500" dirty="0" err="1">
                <a:latin typeface="Arial" panose="020B0604020202020204" pitchFamily="34" charset="0"/>
              </a:rPr>
              <a:t>cf</a:t>
            </a:r>
            <a:r>
              <a:rPr lang="en-US" altLang="ko-KR" sz="1500" dirty="0">
                <a:latin typeface="Arial" panose="020B0604020202020204" pitchFamily="34" charset="0"/>
              </a:rPr>
              <a:t>) </a:t>
            </a:r>
            <a:r>
              <a:rPr lang="ko-KR" altLang="en-US" sz="1500" dirty="0">
                <a:latin typeface="Arial" panose="020B0604020202020204" pitchFamily="34" charset="0"/>
              </a:rPr>
              <a:t>차단주파수 </a:t>
            </a:r>
            <a:r>
              <a:rPr lang="en-US" altLang="ko-KR" sz="1500" dirty="0" err="1">
                <a:latin typeface="Arial" panose="020B0604020202020204" pitchFamily="34" charset="0"/>
              </a:rPr>
              <a:t>f_c</a:t>
            </a:r>
            <a:br>
              <a:rPr lang="en-US" altLang="ko-KR" sz="1500" dirty="0">
                <a:latin typeface="Arial" panose="020B0604020202020204" pitchFamily="34" charset="0"/>
              </a:rPr>
            </a:br>
            <a:r>
              <a:rPr kumimoji="0" lang="ko-KR" altLang="ko-KR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뜻:</a:t>
            </a:r>
            <a:r>
              <a:rPr kumimoji="0" lang="ko-KR" altLang="ko-KR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필터가 신호를 </a:t>
            </a:r>
            <a:r>
              <a:rPr kumimoji="0" lang="ko-KR" altLang="ko-KR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통과시키느냐 </a:t>
            </a:r>
            <a:r>
              <a:rPr kumimoji="0" lang="ko-KR" altLang="ko-KR" sz="15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감쇠시키느냐를</a:t>
            </a:r>
            <a:r>
              <a:rPr kumimoji="0" lang="ko-KR" altLang="ko-KR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결정하는 경계 주파수</a:t>
            </a:r>
            <a:endParaRPr kumimoji="0" lang="ko-KR" altLang="ko-KR" sz="1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ko-KR" altLang="ko-KR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기준점:</a:t>
            </a:r>
            <a:r>
              <a:rPr kumimoji="0" lang="ko-KR" altLang="ko-KR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보통 입력 신호의 </a:t>
            </a:r>
            <a:r>
              <a:rPr kumimoji="0" lang="ko-KR" altLang="ko-KR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전력이 절반(−3 </a:t>
            </a:r>
            <a:r>
              <a:rPr kumimoji="0" lang="ko-KR" altLang="ko-KR" sz="15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dB</a:t>
            </a:r>
            <a:r>
              <a:rPr kumimoji="0" lang="ko-KR" altLang="ko-KR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  <a:r>
              <a:rPr kumimoji="0" lang="ko-KR" altLang="ko-KR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로 줄어드는 지점을 말해</a:t>
            </a:r>
            <a:br>
              <a:rPr kumimoji="0" lang="ko-KR" altLang="ko-KR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→ 즉, </a:t>
            </a:r>
            <a:r>
              <a:rPr kumimoji="0" lang="ko-KR" altLang="ko-KR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출력 전압이 약 70.7%</a:t>
            </a:r>
            <a:r>
              <a:rPr kumimoji="0" lang="ko-KR" altLang="ko-KR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로 떨어지는 지점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ACF8A1-8680-5520-50A2-DD449CC874A9}"/>
              </a:ext>
            </a:extLst>
          </p:cNvPr>
          <p:cNvSpPr txBox="1"/>
          <p:nvPr/>
        </p:nvSpPr>
        <p:spPr>
          <a:xfrm>
            <a:off x="6096000" y="1613647"/>
            <a:ext cx="54864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ko-KR" altLang="ko-KR" b="1" dirty="0">
                <a:latin typeface="Arial" panose="020B0604020202020204" pitchFamily="34" charset="0"/>
              </a:rPr>
              <a:t>🔹 BPF (</a:t>
            </a:r>
            <a:r>
              <a:rPr lang="ko-KR" altLang="ko-KR" b="1" dirty="0" err="1">
                <a:latin typeface="Arial" panose="020B0604020202020204" pitchFamily="34" charset="0"/>
              </a:rPr>
              <a:t>Band-Pass</a:t>
            </a:r>
            <a:r>
              <a:rPr lang="ko-KR" altLang="ko-KR" b="1" dirty="0">
                <a:latin typeface="Arial" panose="020B0604020202020204" pitchFamily="34" charset="0"/>
              </a:rPr>
              <a:t> </a:t>
            </a:r>
            <a:r>
              <a:rPr lang="ko-KR" altLang="ko-KR" b="1" dirty="0" err="1">
                <a:latin typeface="Arial" panose="020B0604020202020204" pitchFamily="34" charset="0"/>
              </a:rPr>
              <a:t>Filter</a:t>
            </a:r>
            <a:r>
              <a:rPr lang="ko-KR" altLang="ko-KR" b="1" dirty="0">
                <a:latin typeface="Arial" panose="020B0604020202020204" pitchFamily="34" charset="0"/>
              </a:rPr>
              <a:t>) - 대역 통과</a:t>
            </a: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b="1" dirty="0">
                <a:latin typeface="Arial" panose="020B0604020202020204" pitchFamily="34" charset="0"/>
              </a:rPr>
              <a:t>역할:</a:t>
            </a:r>
            <a:r>
              <a:rPr lang="ko-KR" altLang="ko-KR" dirty="0">
                <a:latin typeface="Arial" panose="020B0604020202020204" pitchFamily="34" charset="0"/>
              </a:rPr>
              <a:t> 특정 범위(</a:t>
            </a:r>
            <a:r>
              <a:rPr lang="ko-KR" altLang="ko-KR" dirty="0" err="1">
                <a:latin typeface="Arial" panose="020B0604020202020204" pitchFamily="34" charset="0"/>
              </a:rPr>
              <a:t>f_L~f_H</a:t>
            </a:r>
            <a:r>
              <a:rPr lang="ko-KR" altLang="ko-KR" dirty="0">
                <a:latin typeface="Arial" panose="020B0604020202020204" pitchFamily="34" charset="0"/>
              </a:rPr>
              <a:t>)만 통과</a:t>
            </a: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b="1" dirty="0">
                <a:latin typeface="Arial" panose="020B0604020202020204" pitchFamily="34" charset="0"/>
              </a:rPr>
              <a:t>공식:</a:t>
            </a:r>
            <a:br>
              <a:rPr lang="ko-KR" altLang="ko-KR" dirty="0">
                <a:latin typeface="Arial" panose="020B0604020202020204" pitchFamily="34" charset="0"/>
              </a:rPr>
            </a:br>
            <a:r>
              <a:rPr lang="ko-KR" altLang="ko-KR" dirty="0">
                <a:latin typeface="Arial" panose="020B0604020202020204" pitchFamily="34" charset="0"/>
              </a:rPr>
              <a:t>중심주파수 </a:t>
            </a:r>
            <a:r>
              <a:rPr lang="ko-KR" altLang="ko-KR" dirty="0" err="1">
                <a:latin typeface="Arial Unicode MS"/>
              </a:rPr>
              <a:t>f_C</a:t>
            </a:r>
            <a:r>
              <a:rPr lang="ko-KR" altLang="ko-KR" dirty="0">
                <a:latin typeface="Arial Unicode MS"/>
              </a:rPr>
              <a:t> = √(</a:t>
            </a:r>
            <a:r>
              <a:rPr lang="ko-KR" altLang="ko-KR" dirty="0" err="1">
                <a:latin typeface="Arial Unicode MS"/>
              </a:rPr>
              <a:t>f_L·f_H</a:t>
            </a:r>
            <a:r>
              <a:rPr lang="ko-KR" altLang="ko-KR" dirty="0">
                <a:latin typeface="Arial Unicode MS"/>
              </a:rPr>
              <a:t>)</a:t>
            </a:r>
            <a:br>
              <a:rPr lang="ko-KR" altLang="ko-KR" dirty="0"/>
            </a:br>
            <a:r>
              <a:rPr lang="ko-KR" altLang="ko-KR" dirty="0"/>
              <a:t>대역폭 </a:t>
            </a:r>
            <a:r>
              <a:rPr lang="ko-KR" altLang="ko-KR" dirty="0" err="1">
                <a:latin typeface="Arial Unicode MS"/>
              </a:rPr>
              <a:t>B</a:t>
            </a:r>
            <a:r>
              <a:rPr lang="ko-KR" altLang="ko-KR" dirty="0">
                <a:latin typeface="Arial Unicode MS"/>
              </a:rPr>
              <a:t> = </a:t>
            </a:r>
            <a:r>
              <a:rPr lang="ko-KR" altLang="ko-KR" dirty="0" err="1">
                <a:latin typeface="Arial Unicode MS"/>
              </a:rPr>
              <a:t>f_H</a:t>
            </a:r>
            <a:r>
              <a:rPr lang="ko-KR" altLang="ko-KR" dirty="0">
                <a:latin typeface="Arial Unicode MS"/>
              </a:rPr>
              <a:t> − </a:t>
            </a:r>
            <a:r>
              <a:rPr lang="ko-KR" altLang="ko-KR" dirty="0" err="1">
                <a:latin typeface="Arial Unicode MS"/>
              </a:rPr>
              <a:t>f_L</a:t>
            </a:r>
            <a:br>
              <a:rPr lang="ko-KR" altLang="ko-KR" dirty="0"/>
            </a:br>
            <a:r>
              <a:rPr lang="ko-KR" altLang="ko-KR" dirty="0"/>
              <a:t>품질계수 </a:t>
            </a:r>
            <a:r>
              <a:rPr lang="ko-KR" altLang="ko-KR" dirty="0" err="1">
                <a:latin typeface="Arial Unicode MS"/>
              </a:rPr>
              <a:t>Q</a:t>
            </a:r>
            <a:r>
              <a:rPr lang="ko-KR" altLang="ko-KR" dirty="0">
                <a:latin typeface="Arial Unicode MS"/>
              </a:rPr>
              <a:t> = </a:t>
            </a:r>
            <a:r>
              <a:rPr lang="ko-KR" altLang="ko-KR" dirty="0" err="1">
                <a:latin typeface="Arial Unicode MS"/>
              </a:rPr>
              <a:t>f_C</a:t>
            </a:r>
            <a:r>
              <a:rPr lang="ko-KR" altLang="ko-KR" dirty="0">
                <a:latin typeface="Arial Unicode MS"/>
              </a:rPr>
              <a:t> / </a:t>
            </a:r>
            <a:r>
              <a:rPr lang="ko-KR" altLang="ko-KR" dirty="0" err="1">
                <a:latin typeface="Arial Unicode MS"/>
              </a:rPr>
              <a:t>B</a:t>
            </a:r>
            <a:endParaRPr lang="ko-KR" altLang="ko-KR" dirty="0"/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endParaRPr lang="en-US" altLang="ko-KR" b="1" dirty="0">
              <a:latin typeface="Arial" panose="020B0604020202020204" pitchFamily="34" charset="0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endParaRPr lang="ko-KR" altLang="ko-KR" b="1" dirty="0">
              <a:latin typeface="Arial" panose="020B0604020202020204" pitchFamily="34" charset="0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ko-KR" altLang="ko-KR" b="1" dirty="0">
                <a:latin typeface="Arial" panose="020B0604020202020204" pitchFamily="34" charset="0"/>
              </a:rPr>
              <a:t>🔹 BRF / </a:t>
            </a:r>
            <a:r>
              <a:rPr lang="en-US" altLang="ko-KR" b="1" dirty="0">
                <a:latin typeface="Arial" panose="020B0604020202020204" pitchFamily="34" charset="0"/>
              </a:rPr>
              <a:t>(</a:t>
            </a:r>
            <a:r>
              <a:rPr lang="en-US" altLang="ko-K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Band-Reject Filter, Notch)</a:t>
            </a:r>
            <a:r>
              <a:rPr lang="ko-KR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 </a:t>
            </a:r>
            <a:r>
              <a:rPr lang="ko-KR" altLang="ko-KR" b="1" dirty="0">
                <a:latin typeface="Arial" panose="020B0604020202020204" pitchFamily="34" charset="0"/>
              </a:rPr>
              <a:t>대역 저지</a:t>
            </a: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b="1" dirty="0">
                <a:latin typeface="Arial" panose="020B0604020202020204" pitchFamily="34" charset="0"/>
              </a:rPr>
              <a:t>역할:</a:t>
            </a:r>
            <a:r>
              <a:rPr lang="ko-KR" altLang="ko-KR" dirty="0">
                <a:latin typeface="Arial" panose="020B0604020202020204" pitchFamily="34" charset="0"/>
              </a:rPr>
              <a:t> 특정 주파수만 막고 나머지는 통과</a:t>
            </a: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b="1" dirty="0">
                <a:latin typeface="Arial" panose="020B0604020202020204" pitchFamily="34" charset="0"/>
              </a:rPr>
              <a:t>예:</a:t>
            </a:r>
            <a:r>
              <a:rPr lang="ko-KR" altLang="ko-KR" dirty="0">
                <a:latin typeface="Arial" panose="020B0604020202020204" pitchFamily="34" charset="0"/>
              </a:rPr>
              <a:t> 특정 잡음을 제거할 때 사용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283891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122436-1B52-B83B-360A-5D2A87EB34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95295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151</TotalTime>
  <Words>333</Words>
  <Application>Microsoft Office PowerPoint</Application>
  <PresentationFormat>와이드스크린</PresentationFormat>
  <Paragraphs>42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0" baseType="lpstr">
      <vt:lpstr>Arial Unicode MS</vt:lpstr>
      <vt:lpstr>맑은 고딕</vt:lpstr>
      <vt:lpstr>Arial</vt:lpstr>
      <vt:lpstr>Office 테마</vt:lpstr>
      <vt:lpstr>HW_4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민호 엄</dc:creator>
  <cp:lastModifiedBy>민호 엄</cp:lastModifiedBy>
  <cp:revision>1</cp:revision>
  <dcterms:created xsi:type="dcterms:W3CDTF">2025-07-03T08:03:03Z</dcterms:created>
  <dcterms:modified xsi:type="dcterms:W3CDTF">2025-07-03T10:34:10Z</dcterms:modified>
</cp:coreProperties>
</file>