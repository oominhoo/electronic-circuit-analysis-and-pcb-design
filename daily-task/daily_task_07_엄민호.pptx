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36211-7F4C-4AA4-BD2D-4747CAE8FAA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E04D1-8E79-47AB-94B0-53FC0387A4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38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38CE7-016C-1D0A-D1BB-FC178E54D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C489E7-D202-F55B-4B36-617E9D6A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BD1889-E388-2065-0B08-4F810918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B4F8-01B5-4626-A2F6-BFF3C891AFBD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0B435-960B-B58A-BFEF-E9F2F7F3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BE5785-5352-427A-8AC2-82BADA7F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47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11B5F-C74E-B9FE-92DB-81BC2213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56032-24CE-F857-02A4-2EA9B0696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EF594-683B-4B62-B272-1786D463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477-13EA-40BC-B09A-8777CC8DB70F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915F4F-A12B-BDD8-9179-8B54C81C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A729B4-910D-239F-8A10-E6CF6D73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79D3D-BC36-8472-B2A8-34BCDD6E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833E9F-B0BD-B91D-B22F-89BA986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0BE495-6623-C93D-9268-E4CBDC91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AF77-B0C8-4A0E-8E62-4A6E6C03DC21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D84B3-C1DC-917E-E2ED-C22EF16A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5D9DC5-CB46-FEEE-579E-7E47C500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9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F32DF7-A68C-380D-4023-6A41B317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96862-17B2-E38E-27CB-7F873B869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34784-BF73-3E15-B964-7B153DE48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CEE3CE-3016-555B-28A1-326DCFB3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8EED1-54D4-483E-810B-AD989C019A57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281B5F-CD45-0064-A321-CB54E53B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1E27BA-45DF-E840-AB59-F47455B2D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1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10298-C614-7358-1159-84B9AB39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128F48-677C-FD8D-05ED-0BE9C9E6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C15212-38F8-7841-C459-DA64016CB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1715BF-8785-A82D-FFCC-C13739D0A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7B139D-3890-3D19-F5B6-CB590A398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CE553A2-602E-2B22-FB0E-101BD519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B10DB-11A0-4E8E-A97B-FF8B8B451516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3F2BD1-B267-CBCC-13F3-397A2A56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FD509A-E536-D25E-5B65-9EA6F3FF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10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D8774D-0A3F-070F-46A8-4BDE82F3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B4230E-52C0-168F-CF67-01C23E1E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33E29-CEC4-43F7-ABEF-76BD272074DF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5CAEEA-F286-2A30-19B9-B2C85379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55C71A-A1EA-6DDA-7D14-FFA4BBC00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56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88DD36-2995-E46A-3190-84DA8883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DE19-CF77-4515-9003-BF1925F2FB77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F2EE3E-B387-53D7-6446-04E5D909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9E571-DFEB-7B46-A66D-3A721F9A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28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FDD0F1-7F0D-775A-0456-6564B62B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FCBAB1-1402-A93E-A156-65FECB6B8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075456-49B1-9B18-474B-BA7F23B64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3A7D4B-88B2-F7BF-5F83-23B0EF9D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C8D52-F8DD-4605-A25A-DC7439115666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011502-8EA4-D113-7D52-9DDAFF78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79F588-56A0-F79F-8EAB-E1C2DCD1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05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483E7-382A-C7AD-FBF4-2A92AB74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DA0295-48D4-2F16-3861-A058370BC0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20F02E-51EB-9869-5361-135E6D9A9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712B8-3A3C-1E42-9F99-670A1C6CB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CD59F-8D98-4750-A117-17269F1A3D5B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B72F9-0BB6-C91D-F74E-B91D17E7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F370BD-8CAA-95A7-4B45-7062C0F9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94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B5C0B-BF92-0F9B-68A5-F5DB2680B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324037-74C6-C0A7-E2BA-60CD633DE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B04721-122D-C3F7-791C-AB3D0AD3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07DF7-6261-48B2-B712-9C964725A804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9947BA-B4B0-4BE2-7EF2-21B924C5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C6FF7-09BD-52FA-7AEC-5AE946AC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6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4BD48C-4868-6CB2-A738-C6739A6EA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F398EA-E368-FAC6-0E84-52CA55323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635195-FBFC-ACDA-7818-838D0B139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A0AE5-DAB1-4479-BBC3-214E40A617AF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C4A51A-BDE2-CCF0-0907-74E831EA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851AA-55F9-EEA5-1C77-A5183588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51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A756E3-CCA4-7F18-FA6F-ED8B8393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209DA1-86A4-ED83-429A-D143833E2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BAEFE-6F55-160E-0EE9-E5AE5BBC5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AFA81-6778-44D1-969F-D16A328287E7}" type="datetime1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08B71E-46C4-C72F-0F18-BFF67C5DA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D84959-DF5F-9938-2ECC-738EBE777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27ABD-078E-4D08-897A-0CC1057BE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83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06590C-E505-7D40-B9C7-DDD8234C4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504296"/>
          </a:xfrm>
        </p:spPr>
        <p:txBody>
          <a:bodyPr/>
          <a:lstStyle/>
          <a:p>
            <a:r>
              <a:rPr lang="en-US" altLang="ko-KR" dirty="0"/>
              <a:t>HW7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D4A107-002A-30A0-BC41-C8354754B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엄민호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EF24C9-B03C-9AC0-4747-DBAA7D59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039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8C1AD-2A88-4640-1DE3-A2910349D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696"/>
            <a:ext cx="10515600" cy="6117104"/>
          </a:xfrm>
        </p:spPr>
        <p:txBody>
          <a:bodyPr>
            <a:normAutofit lnSpcReduction="10000"/>
          </a:bodyPr>
          <a:lstStyle/>
          <a:p>
            <a:r>
              <a:rPr lang="en-US" altLang="ko-KR" sz="1800" b="1" dirty="0"/>
              <a:t>SI (Signal Integrity,</a:t>
            </a:r>
            <a:r>
              <a:rPr lang="ko-KR" altLang="en-US" sz="1800" b="1" dirty="0"/>
              <a:t> 신호 무결성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ko-KR" altLang="en-US" sz="1800" dirty="0"/>
              <a:t>디지털</a:t>
            </a:r>
            <a:r>
              <a:rPr lang="en-US" altLang="ko-KR" sz="1800" dirty="0"/>
              <a:t>·</a:t>
            </a:r>
            <a:r>
              <a:rPr lang="ko-KR" altLang="en-US" sz="1800" dirty="0"/>
              <a:t>아날로그 신호 파형이 전송 경로를 따라 </a:t>
            </a:r>
            <a:r>
              <a:rPr lang="ko-KR" altLang="en-US" sz="1800" b="1" dirty="0"/>
              <a:t>왜곡</a:t>
            </a:r>
            <a:r>
              <a:rPr lang="en-US" altLang="ko-KR" sz="1800" b="1" dirty="0"/>
              <a:t>·</a:t>
            </a:r>
            <a:r>
              <a:rPr lang="ko-KR" altLang="en-US" sz="1800" b="1" dirty="0"/>
              <a:t>반사</a:t>
            </a:r>
            <a:r>
              <a:rPr lang="en-US" altLang="ko-KR" sz="1800" b="1" dirty="0"/>
              <a:t>·</a:t>
            </a:r>
            <a:r>
              <a:rPr lang="ko-KR" altLang="en-US" sz="1800" b="1" dirty="0" err="1"/>
              <a:t>크로스토크</a:t>
            </a:r>
            <a:r>
              <a:rPr lang="ko-KR" altLang="en-US" sz="1800" b="1" dirty="0"/>
              <a:t> 없이 원형에 가깝게 유지되는 정도</a:t>
            </a:r>
            <a:r>
              <a:rPr lang="ko-KR" altLang="en-US" sz="1800" dirty="0"/>
              <a:t>를 뜻합니다</a:t>
            </a:r>
            <a:r>
              <a:rPr lang="en-US" altLang="ko-KR" sz="1800" dirty="0"/>
              <a:t>. </a:t>
            </a:r>
          </a:p>
          <a:p>
            <a:endParaRPr lang="en-US" altLang="ko-KR" sz="1800" dirty="0"/>
          </a:p>
          <a:p>
            <a:r>
              <a:rPr lang="en-US" altLang="ko-KR" sz="1800" b="1" dirty="0"/>
              <a:t> PI (Power Integrity, </a:t>
            </a:r>
            <a:r>
              <a:rPr lang="ko-KR" altLang="en-US" sz="1800" b="1" dirty="0"/>
              <a:t>전원 무결성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IC·</a:t>
            </a:r>
            <a:r>
              <a:rPr lang="ko-KR" altLang="en-US" sz="1800" dirty="0"/>
              <a:t>모듈이 요구하는 </a:t>
            </a:r>
            <a:r>
              <a:rPr lang="ko-KR" altLang="en-US" sz="1800" b="1" dirty="0"/>
              <a:t>전압 레벨과 </a:t>
            </a:r>
            <a:r>
              <a:rPr lang="ko-KR" altLang="en-US" sz="1800" b="1" dirty="0" err="1"/>
              <a:t>저노이즈</a:t>
            </a:r>
            <a:r>
              <a:rPr lang="ko-KR" altLang="en-US" sz="1800" b="1" dirty="0"/>
              <a:t> 전력을 순간</a:t>
            </a:r>
            <a:r>
              <a:rPr lang="en-US" altLang="ko-KR" sz="1800" b="1" dirty="0"/>
              <a:t>·</a:t>
            </a:r>
            <a:r>
              <a:rPr lang="ko-KR" altLang="en-US" sz="1800" b="1" dirty="0"/>
              <a:t>전 주파수 대역에서 안정적으로 공급</a:t>
            </a:r>
            <a:r>
              <a:rPr lang="ko-KR" altLang="en-US" sz="1800" dirty="0"/>
              <a:t>하는 능력입니다</a:t>
            </a:r>
          </a:p>
          <a:p>
            <a:endParaRPr lang="en-US" altLang="ko-KR" dirty="0"/>
          </a:p>
          <a:p>
            <a:r>
              <a:rPr lang="en-US" altLang="ko-KR" sz="1800" b="1" dirty="0"/>
              <a:t>EMI (Electromagnetic Interference, </a:t>
            </a:r>
            <a:r>
              <a:rPr lang="ko-KR" altLang="en-US" sz="1800" b="1" dirty="0"/>
              <a:t>전자파 간섭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ko-KR" altLang="en-US" sz="1800" dirty="0"/>
              <a:t>전자장치에서 </a:t>
            </a:r>
            <a:r>
              <a:rPr lang="ko-KR" altLang="en-US" sz="1800" b="1" dirty="0"/>
              <a:t>원치 않는 전자기 에너지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전도</a:t>
            </a:r>
            <a:r>
              <a:rPr lang="en-US" altLang="ko-KR" sz="1800" b="1" dirty="0"/>
              <a:t>·</a:t>
            </a:r>
            <a:r>
              <a:rPr lang="ko-KR" altLang="en-US" sz="1800" b="1" dirty="0"/>
              <a:t>복사</a:t>
            </a:r>
            <a:r>
              <a:rPr lang="en-US" altLang="ko-KR" sz="1800" b="1" dirty="0"/>
              <a:t>) </a:t>
            </a:r>
            <a:r>
              <a:rPr lang="ko-KR" altLang="en-US" sz="1800" b="1" dirty="0"/>
              <a:t>가 방출되어 다른 장비의 동작을 교란</a:t>
            </a:r>
            <a:r>
              <a:rPr lang="ko-KR" altLang="en-US" sz="1800" dirty="0"/>
              <a:t>하는 현상</a:t>
            </a:r>
            <a:r>
              <a:rPr lang="en-US" altLang="ko-KR" sz="1800" dirty="0"/>
              <a:t>·</a:t>
            </a:r>
            <a:r>
              <a:rPr lang="ko-KR" altLang="en-US" sz="1800" dirty="0"/>
              <a:t>신호를 말합니다</a:t>
            </a:r>
          </a:p>
          <a:p>
            <a:pPr>
              <a:lnSpc>
                <a:spcPct val="160000"/>
              </a:lnSpc>
            </a:pPr>
            <a:endParaRPr lang="en-US" altLang="ko-KR" sz="1800" dirty="0"/>
          </a:p>
          <a:p>
            <a:r>
              <a:rPr lang="en-US" altLang="ko-KR" sz="1800" b="1" dirty="0"/>
              <a:t>EMS (Electromagnetic Susceptibility / Immunity, </a:t>
            </a:r>
            <a:r>
              <a:rPr lang="ko-KR" altLang="en-US" sz="1800" b="1" dirty="0"/>
              <a:t>전자파 내성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r>
              <a:rPr lang="ko-KR" altLang="en-US" sz="1800" dirty="0"/>
              <a:t>장비가 </a:t>
            </a:r>
            <a:r>
              <a:rPr lang="ko-KR" altLang="en-US" sz="1800" b="1" dirty="0"/>
              <a:t>외부 전자파 환경에서도 성능 저하 없이 동작</a:t>
            </a:r>
            <a:r>
              <a:rPr lang="ko-KR" altLang="en-US" sz="1800" dirty="0"/>
              <a:t>할 수 있는 내성</a:t>
            </a:r>
            <a:r>
              <a:rPr lang="en-US" altLang="ko-KR" sz="1800" dirty="0"/>
              <a:t>(immunity)</a:t>
            </a:r>
            <a:r>
              <a:rPr lang="ko-KR" altLang="en-US" sz="1800" dirty="0"/>
              <a:t>의 척도입니다</a:t>
            </a:r>
            <a:r>
              <a:rPr lang="en-US" altLang="ko-KR" sz="1800" dirty="0"/>
              <a:t>. </a:t>
            </a:r>
          </a:p>
          <a:p>
            <a:endParaRPr lang="en-US" altLang="ko-KR" sz="1800" b="1" dirty="0"/>
          </a:p>
          <a:p>
            <a:r>
              <a:rPr lang="en-US" altLang="ko-KR" sz="1800" b="1" dirty="0"/>
              <a:t>EMC (Electromagnetic Compatibility, </a:t>
            </a:r>
            <a:r>
              <a:rPr lang="ko-KR" altLang="en-US" sz="1800" b="1" dirty="0"/>
              <a:t>전자파 적합성</a:t>
            </a:r>
            <a:r>
              <a:rPr lang="en-US" altLang="ko-KR" sz="1800" b="1" dirty="0"/>
              <a:t>)</a:t>
            </a:r>
            <a:endParaRPr lang="ko-KR" altLang="en-US" sz="1800" b="1" dirty="0"/>
          </a:p>
          <a:p>
            <a:pPr marL="0" indent="0">
              <a:buNone/>
            </a:pPr>
            <a:r>
              <a:rPr lang="ko-KR" altLang="en-US" sz="1800" b="1" dirty="0"/>
              <a:t>장비가 자가 </a:t>
            </a:r>
            <a:r>
              <a:rPr lang="en-US" altLang="ko-KR" sz="1800" b="1" dirty="0"/>
              <a:t>EMI</a:t>
            </a:r>
            <a:r>
              <a:rPr lang="ko-KR" altLang="en-US" sz="1800" b="1" dirty="0"/>
              <a:t>를 억제하고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충분한 </a:t>
            </a:r>
            <a:r>
              <a:rPr lang="en-US" altLang="ko-KR" sz="1800" b="1" dirty="0"/>
              <a:t>EMS</a:t>
            </a:r>
            <a:r>
              <a:rPr lang="ko-KR" altLang="en-US" sz="1800" b="1" dirty="0"/>
              <a:t>를 확보하여 동일 전자기 환경에서 다른 장비와 공존</a:t>
            </a:r>
            <a:r>
              <a:rPr lang="ko-KR" altLang="en-US" sz="1800" dirty="0"/>
              <a:t>할 수 있는 특성입니다</a:t>
            </a:r>
          </a:p>
          <a:p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57BE01-6316-77C5-DD65-A565939C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49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C021B-F555-3C80-1E77-0A88AA85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651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SI·PI</a:t>
            </a:r>
            <a:r>
              <a:rPr lang="ko-KR" altLang="en-US" sz="2800" dirty="0"/>
              <a:t>에서 </a:t>
            </a:r>
            <a:r>
              <a:rPr lang="en-US" altLang="ko-KR" sz="2800" dirty="0"/>
              <a:t>EMC</a:t>
            </a:r>
            <a:r>
              <a:rPr lang="ko-KR" altLang="en-US" sz="2800" dirty="0"/>
              <a:t>까지</a:t>
            </a:r>
            <a:r>
              <a:rPr lang="en-US" altLang="ko-KR" sz="2800" dirty="0"/>
              <a:t>: </a:t>
            </a:r>
            <a:r>
              <a:rPr lang="ko-KR" altLang="en-US" sz="2800" dirty="0"/>
              <a:t>무결성과 전자파를 잇는 통합 설계 로드맵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3C5CCF-99F0-96CA-119F-BFE3A64BF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723"/>
            <a:ext cx="10515600" cy="487107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 고속</a:t>
            </a:r>
            <a:r>
              <a:rPr lang="en-US" altLang="ko-KR" dirty="0"/>
              <a:t>·</a:t>
            </a:r>
            <a:r>
              <a:rPr lang="ko-KR" altLang="en-US" dirty="0"/>
              <a:t>집적 전자시스템에서 </a:t>
            </a:r>
            <a:r>
              <a:rPr lang="en-US" altLang="ko-KR" b="1" dirty="0"/>
              <a:t>SI(</a:t>
            </a:r>
            <a:r>
              <a:rPr lang="ko-KR" altLang="en-US" b="1" dirty="0"/>
              <a:t>신호 무결성</a:t>
            </a:r>
            <a:r>
              <a:rPr lang="en-US" altLang="ko-KR" b="1" dirty="0"/>
              <a:t>)·PI(</a:t>
            </a:r>
            <a:r>
              <a:rPr lang="ko-KR" altLang="en-US" b="1" dirty="0"/>
              <a:t>전원 무결성</a:t>
            </a:r>
            <a:r>
              <a:rPr lang="en-US" altLang="ko-KR" b="1" dirty="0"/>
              <a:t>) → EMI(</a:t>
            </a:r>
            <a:r>
              <a:rPr lang="ko-KR" altLang="en-US" b="1" dirty="0"/>
              <a:t>전자파 간섭</a:t>
            </a:r>
            <a:r>
              <a:rPr lang="en-US" altLang="ko-KR" b="1" dirty="0"/>
              <a:t>)·EMS(</a:t>
            </a:r>
            <a:r>
              <a:rPr lang="ko-KR" altLang="en-US" b="1" dirty="0"/>
              <a:t>전자파 내성</a:t>
            </a:r>
            <a:r>
              <a:rPr lang="en-US" altLang="ko-KR" b="1" dirty="0"/>
              <a:t>) → EMC(</a:t>
            </a:r>
            <a:r>
              <a:rPr lang="ko-KR" altLang="en-US" b="1" dirty="0"/>
              <a:t>전자파 적합성</a:t>
            </a:r>
            <a:r>
              <a:rPr lang="en-US" altLang="ko-KR" b="1" dirty="0"/>
              <a:t>)</a:t>
            </a:r>
            <a:r>
              <a:rPr lang="ko-KR" altLang="en-US" dirty="0"/>
              <a:t> 으로 이어지는 ‘무결성</a:t>
            </a:r>
            <a:r>
              <a:rPr lang="en-US" altLang="ko-KR" dirty="0"/>
              <a:t>-</a:t>
            </a:r>
            <a:r>
              <a:rPr lang="ko-KR" altLang="en-US" dirty="0"/>
              <a:t>전자파’ 사슬은 제품의 기능 안정성과 규제 준수 여부를 좌우합니다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>
              <a:lnSpc>
                <a:spcPct val="160000"/>
              </a:lnSpc>
            </a:pPr>
            <a:r>
              <a:rPr lang="en-US" altLang="ko-KR" dirty="0"/>
              <a:t>SI·PI</a:t>
            </a:r>
            <a:r>
              <a:rPr lang="ko-KR" altLang="en-US" dirty="0"/>
              <a:t>가 흔들리면 불필요한 전도</a:t>
            </a:r>
            <a:r>
              <a:rPr lang="en-US" altLang="ko-KR" dirty="0"/>
              <a:t>/</a:t>
            </a:r>
            <a:r>
              <a:rPr lang="ko-KR" altLang="en-US" dirty="0"/>
              <a:t>복사 노이즈가 커져 </a:t>
            </a:r>
            <a:r>
              <a:rPr lang="en-US" altLang="ko-KR" dirty="0"/>
              <a:t>EMI</a:t>
            </a:r>
            <a:r>
              <a:rPr lang="ko-KR" altLang="en-US" dirty="0"/>
              <a:t>가 악화되고</a:t>
            </a:r>
            <a:r>
              <a:rPr lang="en-US" altLang="ko-KR" dirty="0"/>
              <a:t>, </a:t>
            </a:r>
            <a:r>
              <a:rPr lang="ko-KR" altLang="en-US" dirty="0"/>
              <a:t>외부 잡음에 견디는 </a:t>
            </a:r>
            <a:r>
              <a:rPr lang="en-US" altLang="ko-KR" dirty="0"/>
              <a:t>EMS</a:t>
            </a:r>
            <a:r>
              <a:rPr lang="ko-KR" altLang="en-US" dirty="0"/>
              <a:t>가 약화됩니다</a:t>
            </a:r>
            <a:r>
              <a:rPr lang="en-US" altLang="ko-KR" dirty="0"/>
              <a:t>. </a:t>
            </a:r>
          </a:p>
          <a:p>
            <a:pPr marL="0" indent="0">
              <a:lnSpc>
                <a:spcPct val="160000"/>
              </a:lnSpc>
              <a:buNone/>
            </a:pPr>
            <a:endParaRPr lang="en-US" altLang="ko-KR" dirty="0"/>
          </a:p>
          <a:p>
            <a:pPr>
              <a:lnSpc>
                <a:spcPct val="160000"/>
              </a:lnSpc>
            </a:pPr>
            <a:r>
              <a:rPr lang="ko-KR" altLang="en-US" dirty="0"/>
              <a:t>결국 </a:t>
            </a:r>
            <a:r>
              <a:rPr lang="en-US" altLang="ko-KR" dirty="0"/>
              <a:t>EMC </a:t>
            </a:r>
            <a:r>
              <a:rPr lang="ko-KR" altLang="en-US" dirty="0"/>
              <a:t>설계</a:t>
            </a:r>
            <a:r>
              <a:rPr lang="en-US" altLang="ko-KR" dirty="0"/>
              <a:t>·</a:t>
            </a:r>
            <a:r>
              <a:rPr lang="ko-KR" altLang="en-US" dirty="0"/>
              <a:t>시험은 </a:t>
            </a:r>
            <a:r>
              <a:rPr lang="ko-KR" altLang="en-US" b="1" dirty="0"/>
              <a:t>“주변 기기를 방해하지도</a:t>
            </a:r>
            <a:r>
              <a:rPr lang="en-US" altLang="ko-KR" b="1" dirty="0"/>
              <a:t>, </a:t>
            </a:r>
            <a:r>
              <a:rPr lang="ko-KR" altLang="en-US" b="1" dirty="0"/>
              <a:t>방해받지도 않는 장비”</a:t>
            </a:r>
            <a:r>
              <a:rPr lang="ko-KR" altLang="en-US" dirty="0"/>
              <a:t> 를 목표로 하며</a:t>
            </a:r>
            <a:r>
              <a:rPr lang="en-US" altLang="ko-KR" dirty="0"/>
              <a:t>, </a:t>
            </a:r>
            <a:r>
              <a:rPr lang="ko-KR" altLang="en-US" dirty="0"/>
              <a:t>이를 위해 설계</a:t>
            </a:r>
            <a:r>
              <a:rPr lang="en-US" altLang="ko-KR" dirty="0"/>
              <a:t>-PCB-</a:t>
            </a:r>
            <a:r>
              <a:rPr lang="ko-KR" altLang="en-US" dirty="0"/>
              <a:t>패키지</a:t>
            </a:r>
            <a:r>
              <a:rPr lang="en-US" altLang="ko-KR" dirty="0"/>
              <a:t>-</a:t>
            </a:r>
            <a:r>
              <a:rPr lang="ko-KR" altLang="en-US" dirty="0"/>
              <a:t>케이블</a:t>
            </a:r>
            <a:r>
              <a:rPr lang="en-US" altLang="ko-KR" dirty="0"/>
              <a:t>-</a:t>
            </a:r>
            <a:r>
              <a:rPr lang="ko-KR" altLang="en-US" dirty="0"/>
              <a:t>시스템 전 영역에서 </a:t>
            </a:r>
            <a:r>
              <a:rPr lang="en-US" altLang="ko-KR" dirty="0"/>
              <a:t>SI·PI·EMI·EMS</a:t>
            </a:r>
            <a:r>
              <a:rPr lang="ko-KR" altLang="en-US" dirty="0"/>
              <a:t>를 통합적으로 관리해야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11B45B-9ADC-278F-117D-73BDE9EA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78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FFC57-E9F8-0518-CDB4-E97CDE8E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IEC 61000-4-2(ESD </a:t>
            </a:r>
            <a:r>
              <a:rPr lang="ko-KR" altLang="en-US" dirty="0"/>
              <a:t>내성 시험 규격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A762B-62E2-353F-03F2-F2757F369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02"/>
            <a:ext cx="10515600" cy="492666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IEC 61000-4-2</a:t>
            </a:r>
            <a:r>
              <a:rPr lang="ko-KR" altLang="en-US" dirty="0"/>
              <a:t>는 “사람이 전자제품에 손을 댈 때 튀는 정전기</a:t>
            </a:r>
            <a:r>
              <a:rPr lang="en-US" altLang="ko-KR" dirty="0"/>
              <a:t>(ESD)</a:t>
            </a:r>
            <a:r>
              <a:rPr lang="ko-KR" altLang="en-US" dirty="0"/>
              <a:t>가 얼마나 세도 제품이 멀쩡히 동작해야 </a:t>
            </a:r>
            <a:r>
              <a:rPr lang="ko-KR" altLang="en-US" dirty="0" err="1"/>
              <a:t>하는가”를</a:t>
            </a:r>
            <a:r>
              <a:rPr lang="ko-KR" altLang="en-US" dirty="0"/>
              <a:t> 시험</a:t>
            </a:r>
            <a:r>
              <a:rPr lang="en-US" altLang="ko-KR" dirty="0"/>
              <a:t>·</a:t>
            </a:r>
            <a:r>
              <a:rPr lang="ko-KR" altLang="en-US" dirty="0"/>
              <a:t>규정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사람</a:t>
            </a:r>
            <a:r>
              <a:rPr lang="en-US" altLang="ko-KR" dirty="0"/>
              <a:t>-</a:t>
            </a:r>
            <a:r>
              <a:rPr lang="ko-KR" altLang="en-US" dirty="0"/>
              <a:t>장비 접촉으로 발생하는 정전기 방전을 </a:t>
            </a:r>
            <a:r>
              <a:rPr lang="en-US" altLang="ko-KR" dirty="0"/>
              <a:t>150 pF/330 Ω RC </a:t>
            </a:r>
            <a:r>
              <a:rPr lang="ko-KR" altLang="en-US" dirty="0"/>
              <a:t>네트워크</a:t>
            </a:r>
            <a:r>
              <a:rPr lang="en-US" altLang="ko-KR" dirty="0"/>
              <a:t>·0.8 ns </a:t>
            </a:r>
            <a:r>
              <a:rPr lang="ko-KR" altLang="en-US" dirty="0"/>
              <a:t>상승시간 파형으로 재현해 </a:t>
            </a:r>
            <a:r>
              <a:rPr lang="en-US" altLang="ko-KR" b="1" dirty="0"/>
              <a:t>±8 kV (</a:t>
            </a:r>
            <a:r>
              <a:rPr lang="ko-KR" altLang="en-US" b="1" dirty="0"/>
              <a:t>접촉</a:t>
            </a:r>
            <a:r>
              <a:rPr lang="en-US" altLang="ko-KR" b="1" dirty="0"/>
              <a:t>) / ±15 kV (</a:t>
            </a:r>
            <a:r>
              <a:rPr lang="ko-KR" altLang="en-US" b="1" dirty="0"/>
              <a:t>공기</a:t>
            </a:r>
            <a:r>
              <a:rPr lang="en-US" altLang="ko-KR" b="1" dirty="0"/>
              <a:t>)</a:t>
            </a:r>
            <a:r>
              <a:rPr lang="ko-KR" altLang="en-US" b="1" dirty="0"/>
              <a:t>까지 </a:t>
            </a:r>
            <a:r>
              <a:rPr lang="en-US" altLang="ko-KR" b="1" dirty="0"/>
              <a:t>4 </a:t>
            </a:r>
            <a:r>
              <a:rPr lang="ko-KR" altLang="en-US" b="1" dirty="0"/>
              <a:t>수준</a:t>
            </a:r>
            <a:r>
              <a:rPr lang="ko-KR" altLang="en-US" dirty="0"/>
              <a:t>의 내성을 요구합니다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보호소자의 대표 격이 </a:t>
            </a:r>
            <a:r>
              <a:rPr lang="en-US" altLang="ko-KR" b="1" dirty="0"/>
              <a:t>TVS </a:t>
            </a:r>
            <a:r>
              <a:rPr lang="ko-KR" altLang="en-US" b="1" dirty="0"/>
              <a:t>다이오드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en-US" altLang="ko-KR" b="1" dirty="0"/>
              <a:t>Uni-direction TVS</a:t>
            </a:r>
            <a:r>
              <a:rPr lang="ko-KR" altLang="en-US" dirty="0"/>
              <a:t>는 </a:t>
            </a:r>
            <a:r>
              <a:rPr lang="ko-KR" altLang="en-US" dirty="0" err="1"/>
              <a:t>단극</a:t>
            </a:r>
            <a:r>
              <a:rPr lang="en-US" altLang="ko-KR" dirty="0"/>
              <a:t>(</a:t>
            </a:r>
            <a:r>
              <a:rPr lang="ko-KR" altLang="en-US" dirty="0"/>
              <a:t>주로 양극</a:t>
            </a:r>
            <a:r>
              <a:rPr lang="en-US" altLang="ko-KR" dirty="0"/>
              <a:t>) </a:t>
            </a:r>
            <a:r>
              <a:rPr lang="ko-KR" altLang="en-US" dirty="0"/>
              <a:t>회로에서 효율적이며</a:t>
            </a:r>
            <a:r>
              <a:rPr lang="en-US" altLang="ko-KR" dirty="0"/>
              <a:t>, </a:t>
            </a:r>
            <a:r>
              <a:rPr lang="en-US" altLang="ko-KR" b="1" dirty="0"/>
              <a:t>Bi-direction TVS</a:t>
            </a:r>
            <a:r>
              <a:rPr lang="ko-KR" altLang="en-US" dirty="0"/>
              <a:t>는 </a:t>
            </a:r>
            <a:r>
              <a:rPr lang="en-US" altLang="ko-KR" dirty="0"/>
              <a:t>±</a:t>
            </a:r>
            <a:r>
              <a:rPr lang="ko-KR" altLang="en-US" dirty="0"/>
              <a:t>신호선</a:t>
            </a:r>
            <a:r>
              <a:rPr lang="en-US" altLang="ko-KR" dirty="0"/>
              <a:t>·AC </a:t>
            </a:r>
            <a:r>
              <a:rPr lang="ko-KR" altLang="en-US" dirty="0"/>
              <a:t>라인 같이 양극</a:t>
            </a:r>
            <a:r>
              <a:rPr lang="en-US" altLang="ko-KR" dirty="0"/>
              <a:t>/</a:t>
            </a:r>
            <a:r>
              <a:rPr lang="ko-KR" altLang="en-US" dirty="0"/>
              <a:t>음극 모두를 대칭으로 </a:t>
            </a:r>
            <a:r>
              <a:rPr lang="ko-KR" altLang="en-US" dirty="0" err="1"/>
              <a:t>클램프합니다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24715-6769-EE15-FC85-BCB49DF0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74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D898F-B666-5EA6-6226-1329AFB27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2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IEC 61000-4-2(ESD </a:t>
            </a:r>
            <a:r>
              <a:rPr lang="ko-KR" altLang="en-US" sz="4000" dirty="0"/>
              <a:t>내성 시험 규격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B498491-0CD2-0077-9747-CF5C089B6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327879"/>
              </p:ext>
            </p:extLst>
          </p:nvPr>
        </p:nvGraphicFramePr>
        <p:xfrm>
          <a:off x="754224" y="2181825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244950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8842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27722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04344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레벨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접촉 방전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공기 방전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</a:t>
                      </a:r>
                      <a:r>
                        <a:rPr lang="ko-KR" altLang="en-US"/>
                        <a:t>차 피크 전류*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487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±2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±2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7.5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294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±4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±4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582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±6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±8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22.5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14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±8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±15 kV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0138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DCCB5C-FD7E-FFCC-3B27-CC6F7FCC2E4B}"/>
              </a:ext>
            </a:extLst>
          </p:cNvPr>
          <p:cNvSpPr txBox="1"/>
          <p:nvPr/>
        </p:nvSpPr>
        <p:spPr>
          <a:xfrm>
            <a:off x="692797" y="5083326"/>
            <a:ext cx="10806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기능 등급 </a:t>
            </a:r>
            <a:r>
              <a:rPr lang="en-US" altLang="ko-KR" dirty="0"/>
              <a:t>(A: </a:t>
            </a:r>
            <a:r>
              <a:rPr lang="ko-KR" altLang="en-US" dirty="0"/>
              <a:t>성능 유지</a:t>
            </a:r>
            <a:r>
              <a:rPr lang="en-US" altLang="ko-KR" dirty="0"/>
              <a:t>, B: </a:t>
            </a:r>
            <a:r>
              <a:rPr lang="ko-KR" altLang="en-US" dirty="0"/>
              <a:t>자가</a:t>
            </a:r>
            <a:r>
              <a:rPr lang="en-US" altLang="ko-KR" dirty="0"/>
              <a:t>-</a:t>
            </a:r>
            <a:r>
              <a:rPr lang="ko-KR" altLang="en-US" dirty="0"/>
              <a:t>복귀</a:t>
            </a:r>
            <a:r>
              <a:rPr lang="en-US" altLang="ko-KR" dirty="0"/>
              <a:t>, C: </a:t>
            </a:r>
            <a:r>
              <a:rPr lang="ko-KR" altLang="en-US" dirty="0"/>
              <a:t>리셋 필요</a:t>
            </a:r>
            <a:r>
              <a:rPr lang="en-US" altLang="ko-KR" dirty="0"/>
              <a:t>, D: </a:t>
            </a:r>
            <a:r>
              <a:rPr lang="ko-KR" altLang="en-US" dirty="0"/>
              <a:t>손상</a:t>
            </a:r>
            <a:r>
              <a:rPr lang="en-US" altLang="ko-KR" dirty="0"/>
              <a:t>) </a:t>
            </a:r>
            <a:r>
              <a:rPr lang="ko-KR" altLang="en-US" dirty="0"/>
              <a:t>중 제품표준이 지정한 최소 등급 충족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E2123-F216-F4DB-5105-BADDDEC4E1C6}"/>
              </a:ext>
            </a:extLst>
          </p:cNvPr>
          <p:cNvSpPr txBox="1"/>
          <p:nvPr/>
        </p:nvSpPr>
        <p:spPr>
          <a:xfrm>
            <a:off x="754224" y="159000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시험 등급 </a:t>
            </a:r>
            <a:r>
              <a:rPr lang="en-US" altLang="ko-KR" dirty="0"/>
              <a:t>&amp; </a:t>
            </a:r>
            <a:r>
              <a:rPr lang="ko-KR" altLang="en-US" dirty="0"/>
              <a:t>파형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710A69-CE9C-F2D6-73C2-A764A60A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0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8EAAB-C48B-A91C-F3C0-7266BC3A7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ko-KR" dirty="0"/>
              <a:t>Uni-direction TVS vs Bi-direction TVS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354F4A-2EAF-CC3E-B581-53651EC8A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TVS </a:t>
            </a:r>
            <a:r>
              <a:rPr lang="ko-KR" altLang="en-US" dirty="0"/>
              <a:t>다이오드 기본 개념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D0D323-E762-2D7F-C2AB-CA3AB28B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86583"/>
            <a:ext cx="10423849" cy="378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역할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과전압이 생기면 “자동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퓨즈”처럼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도통해 여분의 전류를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GND로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흘려보내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전압을 제한.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동작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정상 전압 &lt; 정격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상태, 누설 수 µ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수준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스파이크 &gt; 항복전압→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큰 전류를 흡수하며 전압을 </a:t>
            </a:r>
            <a:r>
              <a:rPr lang="en-US" altLang="ko-KR" dirty="0"/>
              <a:t>V_CLAMP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근처로 고정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스파이크 종료 → 자동으로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복귀 (소자 손상 없음)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Zener와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비슷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역바이어스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항복을 이용하지만, 전류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허용치·응답속도를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극대화해 “일회용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퓨즈”가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아니라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반복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사용 가능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하게 만든 특수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Zener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계열 소자.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63B2B03-5AE9-6FDD-568E-214EF852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70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D5C8C4E-564A-32DD-36E5-ED40FA8F5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41406"/>
              </p:ext>
            </p:extLst>
          </p:nvPr>
        </p:nvGraphicFramePr>
        <p:xfrm>
          <a:off x="838200" y="566704"/>
          <a:ext cx="10515600" cy="6154229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334482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609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03225131"/>
                    </a:ext>
                  </a:extLst>
                </a:gridCol>
              </a:tblGrid>
              <a:tr h="26037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구분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/>
                        <a:t>Uni-direction TVS</a:t>
                      </a:r>
                      <a:endParaRPr 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b="1"/>
                        <a:t>Bi-direction TVS</a:t>
                      </a:r>
                      <a:endParaRPr lang="en-US" sz="16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38818"/>
                  </a:ext>
                </a:extLst>
              </a:tr>
              <a:tr h="8291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구조</a:t>
                      </a:r>
                      <a:endParaRPr lang="ko-KR" alt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 err="1"/>
                        <a:t>역바이어스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Zener 1</a:t>
                      </a:r>
                      <a:r>
                        <a:rPr lang="ko-KR" altLang="en-US" sz="1600" dirty="0"/>
                        <a:t>개로 구성</a:t>
                      </a:r>
                      <a:r>
                        <a:rPr lang="en-US" altLang="ko-KR" sz="1600" dirty="0"/>
                        <a:t>,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/>
                        <a:t>Zener 2</a:t>
                      </a:r>
                      <a:r>
                        <a:rPr lang="ko-KR" altLang="en-US" sz="1600" dirty="0"/>
                        <a:t>개를 </a:t>
                      </a:r>
                      <a:r>
                        <a:rPr lang="ko-KR" altLang="en-US" sz="1600" b="1" dirty="0" err="1"/>
                        <a:t>백투백</a:t>
                      </a:r>
                      <a:r>
                        <a:rPr lang="en-US" altLang="ko-KR" sz="1600" b="1" dirty="0"/>
                        <a:t>(+)↔(–)</a:t>
                      </a:r>
                      <a:r>
                        <a:rPr lang="ko-KR" altLang="en-US" sz="1600" dirty="0"/>
                        <a:t> 로 병렬 연결</a:t>
                      </a:r>
                      <a:endParaRPr 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051288"/>
                  </a:ext>
                </a:extLst>
              </a:tr>
              <a:tr h="12118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보호 방향</a:t>
                      </a:r>
                      <a:endParaRPr lang="ko-KR" alt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/>
                        <a:t>+ </a:t>
                      </a:r>
                      <a:r>
                        <a:rPr lang="ko-KR" altLang="en-US" sz="1600" dirty="0"/>
                        <a:t>방향은 항복전압</a:t>
                      </a:r>
                      <a:r>
                        <a:rPr lang="en-US" altLang="ko-KR" sz="1600" dirty="0"/>
                        <a:t>(VBR)</a:t>
                      </a:r>
                      <a:r>
                        <a:rPr lang="ko-KR" altLang="en-US" sz="1600" dirty="0"/>
                        <a:t>에서 </a:t>
                      </a:r>
                      <a:r>
                        <a:rPr lang="ko-KR" altLang="en-US" sz="1600" dirty="0" err="1"/>
                        <a:t>클램프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→ 사실상 </a:t>
                      </a:r>
                      <a:r>
                        <a:rPr lang="ko-KR" altLang="en-US" sz="1600" b="1" dirty="0"/>
                        <a:t>플러스 스파이크</a:t>
                      </a:r>
                      <a:r>
                        <a:rPr lang="ko-KR" altLang="en-US" sz="1600" dirty="0"/>
                        <a:t>에 강함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/>
                        <a:t>+/– </a:t>
                      </a:r>
                      <a:r>
                        <a:rPr lang="ko-KR" altLang="en-US" sz="1600" dirty="0"/>
                        <a:t>어느 방향이든 같은 </a:t>
                      </a:r>
                      <a:r>
                        <a:rPr lang="en-US" altLang="ko-KR" sz="1600" dirty="0"/>
                        <a:t>VBR</a:t>
                      </a:r>
                      <a:r>
                        <a:rPr lang="ko-KR" altLang="en-US" sz="1600" dirty="0"/>
                        <a:t>에서 </a:t>
                      </a:r>
                      <a:r>
                        <a:rPr lang="ko-KR" altLang="en-US" sz="1600" b="1" dirty="0"/>
                        <a:t>대칭 </a:t>
                      </a:r>
                      <a:r>
                        <a:rPr lang="ko-KR" altLang="en-US" sz="1600" b="1" dirty="0" err="1"/>
                        <a:t>클램프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276155"/>
                  </a:ext>
                </a:extLst>
              </a:tr>
              <a:tr h="9026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대표 적용</a:t>
                      </a:r>
                      <a:endParaRPr lang="ko-KR" alt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한쪽만 전압이 올라가는 회로</a:t>
                      </a:r>
                      <a:endParaRPr lang="en-US" altLang="ko-KR" sz="1600" b="1" dirty="0"/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/>
                        <a:t>DC </a:t>
                      </a:r>
                      <a:r>
                        <a:rPr lang="ko-KR" altLang="en-US" sz="1600" dirty="0"/>
                        <a:t>파워레일</a:t>
                      </a:r>
                      <a:r>
                        <a:rPr lang="en-US" altLang="ko-KR" sz="1600" dirty="0"/>
                        <a:t>(5 V), </a:t>
                      </a:r>
                      <a:r>
                        <a:rPr lang="ko-KR" altLang="en-US" sz="1600" dirty="0"/>
                        <a:t>센서 </a:t>
                      </a:r>
                      <a:r>
                        <a:rPr lang="en-US" altLang="ko-KR" sz="1600" dirty="0"/>
                        <a:t>GPIO </a:t>
                      </a:r>
                      <a:r>
                        <a:rPr lang="ko-KR" altLang="en-US" sz="1600" dirty="0"/>
                        <a:t>등</a:t>
                      </a:r>
                      <a:endParaRPr lang="en-US" altLang="ko-KR" sz="1600" dirty="0"/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신호가 </a:t>
                      </a:r>
                      <a:r>
                        <a:rPr lang="en-US" altLang="ko-KR" sz="1600" b="1" dirty="0"/>
                        <a:t>± </a:t>
                      </a:r>
                      <a:r>
                        <a:rPr lang="ko-KR" altLang="en-US" sz="1600" b="1" dirty="0"/>
                        <a:t>왕복</a:t>
                      </a:r>
                      <a:r>
                        <a:rPr lang="ko-KR" altLang="en-US" sz="1600" dirty="0"/>
                        <a:t>하는 회로</a:t>
                      </a:r>
                      <a:endParaRPr lang="en-US" altLang="ko-KR" sz="1600" dirty="0"/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오디오</a:t>
                      </a:r>
                      <a:r>
                        <a:rPr lang="en-US" altLang="ko-KR" sz="1600" dirty="0"/>
                        <a:t>, AC </a:t>
                      </a:r>
                      <a:r>
                        <a:rPr lang="ko-KR" altLang="en-US" sz="1600" dirty="0"/>
                        <a:t>라인</a:t>
                      </a:r>
                      <a:endParaRPr lang="en-US" altLang="ko-KR" sz="1600" dirty="0"/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938292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주요 장점</a:t>
                      </a:r>
                      <a:endParaRPr lang="ko-KR" altLang="en-US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같은 등급에서 </a:t>
                      </a:r>
                      <a:r>
                        <a:rPr lang="ko-KR" altLang="en-US" sz="1600" b="1" dirty="0"/>
                        <a:t>낮은 </a:t>
                      </a:r>
                      <a:r>
                        <a:rPr lang="en-US" altLang="ko-KR" sz="1600" b="1" dirty="0"/>
                        <a:t>VCLAMP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낮은 기생 </a:t>
                      </a:r>
                      <a:r>
                        <a:rPr lang="en-US" altLang="ko-KR" sz="1600" dirty="0"/>
                        <a:t>C, </a:t>
                      </a:r>
                      <a:r>
                        <a:rPr lang="ko-KR" altLang="en-US" sz="1600" dirty="0" err="1"/>
                        <a:t>부품가</a:t>
                      </a:r>
                      <a:r>
                        <a:rPr lang="ko-KR" altLang="en-US" sz="1600" dirty="0"/>
                        <a:t> 저렴 → 보호 마진↑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고속 </a:t>
                      </a:r>
                      <a:r>
                        <a:rPr lang="en-US" altLang="ko-KR" sz="1600" dirty="0"/>
                        <a:t>I/O </a:t>
                      </a:r>
                      <a:r>
                        <a:rPr lang="ko-KR" altLang="en-US" sz="1600" dirty="0"/>
                        <a:t>유리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 dirty="0"/>
                        <a:t>극성 구분 필요 없음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배선 실수 방지</a:t>
                      </a:r>
                      <a:r>
                        <a:rPr lang="en-US" altLang="ko-KR" sz="1600" dirty="0"/>
                        <a:t>)·±</a:t>
                      </a:r>
                      <a:r>
                        <a:rPr lang="ko-KR" altLang="en-US" sz="1600" dirty="0"/>
                        <a:t>스파이크 동시에 차단 → 현장 신뢰성↑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754091"/>
                  </a:ext>
                </a:extLst>
              </a:tr>
              <a:tr h="102053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/>
                        <a:t>주의</a:t>
                      </a:r>
                      <a:r>
                        <a:rPr lang="en-US" altLang="ko-KR" sz="1600" b="1"/>
                        <a:t>/</a:t>
                      </a:r>
                      <a:r>
                        <a:rPr lang="ko-KR" altLang="en-US" sz="1600" b="1"/>
                        <a:t>단점</a:t>
                      </a:r>
                      <a:endParaRPr lang="ko-KR" altLang="en-US" sz="16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방향 거꾸로 달거나 </a:t>
                      </a:r>
                      <a:r>
                        <a:rPr lang="en-US" altLang="ko-KR" sz="1600" dirty="0"/>
                        <a:t>– </a:t>
                      </a:r>
                      <a:r>
                        <a:rPr lang="ko-KR" altLang="en-US" sz="1600" dirty="0"/>
                        <a:t>스파이크가 크면 보호 실패 위험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dirty="0"/>
                        <a:t>VCLAMP·</a:t>
                      </a:r>
                      <a:r>
                        <a:rPr lang="ko-KR" altLang="en-US" sz="1600" dirty="0"/>
                        <a:t>기생 </a:t>
                      </a:r>
                      <a:r>
                        <a:rPr lang="en-US" altLang="ko-KR" sz="1600" dirty="0"/>
                        <a:t>C</a:t>
                      </a:r>
                      <a:r>
                        <a:rPr lang="ko-KR" altLang="en-US" sz="1600" dirty="0"/>
                        <a:t>가 </a:t>
                      </a:r>
                      <a:r>
                        <a:rPr lang="en-US" altLang="ko-KR" sz="1600" dirty="0"/>
                        <a:t>Uni</a:t>
                      </a:r>
                      <a:r>
                        <a:rPr lang="ko-KR" altLang="en-US" sz="1600" dirty="0"/>
                        <a:t>보다 약간 ↑ → 초고속 </a:t>
                      </a:r>
                      <a:r>
                        <a:rPr lang="ko-KR" altLang="en-US" sz="1600" dirty="0" err="1"/>
                        <a:t>차동선은</a:t>
                      </a:r>
                      <a:r>
                        <a:rPr lang="ko-KR" altLang="en-US" sz="1600" dirty="0"/>
                        <a:t> 저</a:t>
                      </a:r>
                      <a:r>
                        <a:rPr lang="en-US" altLang="ko-KR" sz="1600" dirty="0"/>
                        <a:t>-C </a:t>
                      </a:r>
                      <a:r>
                        <a:rPr lang="ko-KR" altLang="en-US" sz="1600" dirty="0"/>
                        <a:t>제품 골라야 함</a:t>
                      </a:r>
                      <a:endParaRPr lang="en-US" altLang="ko-KR" sz="1600" dirty="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14942"/>
                  </a:ext>
                </a:extLst>
              </a:tr>
              <a:tr h="4464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b="1"/>
                        <a:t>한 줄 요약</a:t>
                      </a:r>
                      <a:endParaRPr lang="ko-KR" altLang="en-US" sz="1600"/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“전압이 한쪽으로만 올라가면 </a:t>
                      </a:r>
                      <a:r>
                        <a:rPr lang="en-US" altLang="ko-KR" sz="1600" b="1" dirty="0"/>
                        <a:t>Uni</a:t>
                      </a:r>
                      <a:r>
                        <a:rPr lang="ko-KR" altLang="en-US" sz="1600" dirty="0"/>
                        <a:t>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600" dirty="0"/>
                        <a:t>“전압이 양쪽으로 오가면 </a:t>
                      </a:r>
                      <a:r>
                        <a:rPr lang="en-US" altLang="ko-KR" sz="1600" b="1" dirty="0"/>
                        <a:t>Bi</a:t>
                      </a:r>
                      <a:r>
                        <a:rPr lang="ko-KR" altLang="en-US" sz="1600" dirty="0"/>
                        <a:t>”</a:t>
                      </a:r>
                    </a:p>
                  </a:txBody>
                  <a:tcPr marL="49447" marR="49447" marT="24724" marB="24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87947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C5313F-974B-E92A-86B5-DBFADFC2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27ABD-078E-4D08-897A-0CC1057BE4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680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714</Words>
  <Application>Microsoft Office PowerPoint</Application>
  <PresentationFormat>와이드스크린</PresentationFormat>
  <Paragraphs>93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HW7</vt:lpstr>
      <vt:lpstr>PowerPoint 프레젠테이션</vt:lpstr>
      <vt:lpstr>SI·PI에서 EMC까지: 무결성과 전자파를 잇는 통합 설계 로드맵</vt:lpstr>
      <vt:lpstr>IEC 61000-4-2(ESD 내성 시험 규격)</vt:lpstr>
      <vt:lpstr>IEC 61000-4-2(ESD 내성 시험 규격)</vt:lpstr>
      <vt:lpstr>Uni-direction TVS vs Bi-direction TVS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민호 엄</dc:creator>
  <cp:lastModifiedBy>민호 엄</cp:lastModifiedBy>
  <cp:revision>4</cp:revision>
  <dcterms:created xsi:type="dcterms:W3CDTF">2025-07-08T10:55:43Z</dcterms:created>
  <dcterms:modified xsi:type="dcterms:W3CDTF">2025-07-09T00:53:09Z</dcterms:modified>
</cp:coreProperties>
</file>