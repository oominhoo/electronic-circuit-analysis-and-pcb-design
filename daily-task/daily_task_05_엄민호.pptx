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65" r:id="rId4"/>
    <p:sldId id="259" r:id="rId5"/>
    <p:sldId id="268" r:id="rId6"/>
    <p:sldId id="262" r:id="rId7"/>
    <p:sldId id="26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41C4B-3E44-4306-B04F-1B540706A129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70AE4-68CD-4EF7-B0DD-F63EC4EA43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7468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71FD5B-09CF-2211-2EA4-A079E54CB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8AFF18-D562-B2F7-60CF-B67EC1116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9CF599-BEAC-A180-1583-8B3CF76F8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B391C-CEF8-435D-8038-674774C2B331}" type="datetime1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2CF65A-5EC1-1E5A-068C-FF793F1FA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51C13A-2796-DF71-D0FB-6EAD9762B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1DC0-AA86-4B7C-AD69-84BA54CE6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8558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C344C-86C6-6073-EFA4-1860E1C1D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D455E2-4C83-9BAB-7C55-F7CE45400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903D66-470C-1F3F-23B5-247CD7D32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05785-DD79-4B4E-967B-EB660DF00542}" type="datetime1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CD67D0-D998-7AE9-6592-E6C213D78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8A061E-4F61-02C0-6C37-AD138D885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1DC0-AA86-4B7C-AD69-84BA54CE6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6347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DA8DB0-0F6F-6DA6-E812-FCDC806E3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188F23-0CDA-2A4A-56F2-33E2F8C6E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5C6891-9363-0895-4B22-06AD15199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5C3CE-4B06-46ED-ABDB-EE06EF03FD93}" type="datetime1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6D85F8-FF49-FDC9-F46D-C645F2CF6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99C319-62C2-6A87-E582-C25CFAE49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1DC0-AA86-4B7C-AD69-84BA54CE6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342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8EC4AA-91BC-4E76-E8CF-E9BDE53A9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50B9F8-D4D0-C6E0-C0A0-BF9F9580AE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1622B65-2677-A823-0E78-7A088E4F7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AD0ACF-7D1D-9C03-9E91-EF0CD496C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2C0B2-865F-4C70-8CDC-A2F29E8F9A07}" type="datetime1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469784-97B5-9BC1-F431-6A133D27F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9660C3-4BBB-9522-BD38-21F677490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1DC0-AA86-4B7C-AD69-84BA54CE6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4206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2A6A64-2082-B719-CF60-B4F076EC3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1FEE4A-7C5E-2347-6867-D8AFB1F87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BAF7D6-2EFA-CA2E-078C-D13CC1DB0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4AA1FB5-704D-F0AA-54F4-EDFD8672F0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AC68C1B-1EE5-5EC7-D072-76E7833F12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5A61496-EDEB-8D21-AA21-0C41E5967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67C9E-5829-4D7C-BADC-A5ED8FBB3708}" type="datetime1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6C043FB-1421-386F-1203-1DC019638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57A972-5350-ED45-6260-8644C3416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1DC0-AA86-4B7C-AD69-84BA54CE6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554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79286-1A53-1F1D-74F5-24A7BAD47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D0CA9CB-BB7C-5ABF-CD07-C82854A3C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85B14-E11C-4D39-BEC6-A11B8AC508F1}" type="datetime1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4CF5371-766F-791F-3973-F98076D5A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5E2ABC-BAA6-21D1-53E5-E370D76BB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1DC0-AA86-4B7C-AD69-84BA54CE6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54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4EF508D-6E70-1429-6AA8-0235547BD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D5B-13F8-4427-9525-DCC00BDCAE0B}" type="datetime1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D15CEC4-9178-F3BC-E7BD-3BE31A0DD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6AF5BE-D8C8-E20A-F4BB-D206C00D2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1DC0-AA86-4B7C-AD69-84BA54CE6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684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84ED5E-FBB8-2215-58D5-0FCB6B189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41346F-774D-6771-720A-5967F8665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098922-F9BE-D662-A09F-514EE6AC3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225294-CA60-4F8B-4EBE-F7D208B5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C44E6-5DF8-4210-A0B5-D4C110B946DC}" type="datetime1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6FFC37-2E06-DDE7-DB77-F9106800F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78386B-035B-FA7E-428A-2B6556246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1DC0-AA86-4B7C-AD69-84BA54CE6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813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0CB007-81F9-4386-D1DF-9801E8872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590FCBC-C77B-C376-3C4D-9156EAABE0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2E5DDF-8622-D578-CBB1-893CC9FB33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400F31-29CD-34CB-83E2-5A0ADEB4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9E381-0806-4778-8243-3F0D81FEDFC0}" type="datetime1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E79F68-3DA3-681C-1AD8-E6430E062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3B86F5-9293-15A0-0B75-5F0B00183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1DC0-AA86-4B7C-AD69-84BA54CE6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565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E62A28-7C77-7A03-9BA7-4C23F44F3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07770A-24EA-8018-CBF2-DE51EE7A1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734321-E66B-1EF2-8DD0-3F6FB36C1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7BE91-D1F3-4EEA-90DA-22B4DCE1AE53}" type="datetime1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E01A60-C312-2DB1-0A8D-B1B6C0614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38869F-5A1B-D079-C0C3-D422BD088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1DC0-AA86-4B7C-AD69-84BA54CE6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619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71E9709-BC50-D893-6E61-C1CA635A21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82D274B-B7EA-36A5-7215-FBFA230E4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3ADBEF-4F2C-5262-7B80-4183B3031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EC3CF-8A6B-43BF-8D07-4C18BA41070E}" type="datetime1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C571AF-E208-1245-774D-6CCB63014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A2D9EF-E79A-86F3-EEEA-B1ED61D9B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1DC0-AA86-4B7C-AD69-84BA54CE6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6801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ACEA189-E60F-92E5-FBDE-387461BFB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FD4635-767A-8795-51C2-20D46D95D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09DD7D-1941-ACBD-0A21-B911B4009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E4A52-CEA4-4A5E-A728-B15D9CCEB227}" type="datetime1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C47253-959F-E855-F8BA-F1DE74A9C7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D66E05-A181-9A3F-61B9-CE53F8BB57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501DC0-AA86-4B7C-AD69-84BA54CE6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560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ctronics-tutorials.ws/filter/filter_2.html?utm_source=chatgpt.com" TargetMode="External"/><Relationship Id="rId2" Type="http://schemas.openxmlformats.org/officeDocument/2006/relationships/hyperlink" Target="https://www.instructables.com/Designing-and-Building-a-Power-Line-Filter-for-an-/?utm_source=chatgpt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lectronics.stackexchange.com/questions/474131/how-does-a-rc-lowpass-filter-work?utm_source=chatgpt.com" TargetMode="External"/><Relationship Id="rId4" Type="http://schemas.openxmlformats.org/officeDocument/2006/relationships/hyperlink" Target="https://www.instructables.com/Passive-Low-Pass-Filter-for-Audio-Circuits-Free-Fo/?utm_source=chatgpt.co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dit.com/r/AskElectronics/comments/flaigw/capacitor_selction_for_headphone_circuit/?utm_source=chatgpt.com" TargetMode="External"/><Relationship Id="rId2" Type="http://schemas.openxmlformats.org/officeDocument/2006/relationships/hyperlink" Target="https://www.ti.com/lit/pdf/sloa043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iyaudio.com/community/threads/headphone-amplifier-output-capacitor-safety.349640/?utm_source=chatgpt.com" TargetMode="External"/><Relationship Id="rId5" Type="http://schemas.openxmlformats.org/officeDocument/2006/relationships/hyperlink" Target="https://fedevel.com/forum/phils-lab/19724-current-flow-in-rc-low-pass-filter?utm_source=chatgpt.com" TargetMode="External"/><Relationship Id="rId4" Type="http://schemas.openxmlformats.org/officeDocument/2006/relationships/hyperlink" Target="https://www.electronics-tutorials.ws/filter/filter_2.html?utm_source=chatgpt.com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forums.adafruit.com/viewtopic.php?t=66612&amp;utm_source=chatgpt.com" TargetMode="External"/><Relationship Id="rId2" Type="http://schemas.openxmlformats.org/officeDocument/2006/relationships/hyperlink" Target="https://electronics.stackexchange.com/questions/423419/high-pass-filter-for-electret-mic-to-mobile-phone?utm_source=chatgpt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electronics-tutorials.ws/filter/filter_4.html?utm_source=chatgpt.com" TargetMode="External"/><Relationship Id="rId4" Type="http://schemas.openxmlformats.org/officeDocument/2006/relationships/hyperlink" Target="https://fiz-ix.com/2013/04/simple-electret-microphone-and-band-pass-amplifier-circuit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8FCFCF-1E65-7380-972F-35841A2D8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1728"/>
            <a:ext cx="9144000" cy="2387600"/>
          </a:xfrm>
        </p:spPr>
        <p:txBody>
          <a:bodyPr/>
          <a:lstStyle/>
          <a:p>
            <a:r>
              <a:rPr lang="en-US" altLang="ko-KR" dirty="0"/>
              <a:t>HW5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901B249-2E6E-F6F4-4A4A-A7C302C9ED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algn="r"/>
            <a:r>
              <a:rPr lang="ko-KR" altLang="en-US" dirty="0"/>
              <a:t>엄민호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AD08B0-0AA9-175C-85E7-7075BA5E0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1DC0-AA86-4B7C-AD69-84BA54CE610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642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AA52273-94E2-54A1-41A1-DAA27AFF9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61" y="3316941"/>
            <a:ext cx="7790134" cy="312245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06F57E4-945A-F208-6478-638BEE37C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772" y="1490540"/>
            <a:ext cx="4875183" cy="1705848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AD74E3-7546-378F-5F5E-F3390BC0B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1DC0-AA86-4B7C-AD69-84BA54CE610B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A91C00-C806-B37F-C4DF-5AB6F950D3E1}"/>
              </a:ext>
            </a:extLst>
          </p:cNvPr>
          <p:cNvSpPr txBox="1"/>
          <p:nvPr/>
        </p:nvSpPr>
        <p:spPr>
          <a:xfrm>
            <a:off x="1434353" y="645295"/>
            <a:ext cx="7673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1. Design 1st order LPF, </a:t>
            </a:r>
            <a:r>
              <a:rPr lang="en-US" altLang="ko-KR" sz="2400" dirty="0" err="1"/>
              <a:t>ωc</a:t>
            </a:r>
            <a:r>
              <a:rPr lang="en-US" altLang="ko-KR" sz="2400" dirty="0"/>
              <a:t> = 1M rad/s	</a:t>
            </a:r>
            <a:endParaRPr lang="ko-KR" alt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70BE45-65FF-BA87-4AFA-6FD111ED53DA}"/>
              </a:ext>
            </a:extLst>
          </p:cNvPr>
          <p:cNvSpPr txBox="1"/>
          <p:nvPr/>
        </p:nvSpPr>
        <p:spPr>
          <a:xfrm>
            <a:off x="4034363" y="3971365"/>
            <a:ext cx="3603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ωc</a:t>
            </a:r>
            <a:r>
              <a:rPr lang="en-US" altLang="ko-KR" sz="1200" dirty="0"/>
              <a:t> = 1 / RC = 1 / 1u = 1M rad/s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026389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92E3AA-5443-B414-6A96-1F6635623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LPF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제품</a:t>
            </a:r>
            <a:r>
              <a:rPr lang="en-US" altLang="ko-KR" dirty="0"/>
              <a:t>	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4CA3FF-5D40-4235-42B3-9168637C8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800" dirty="0"/>
              <a:t>스마트폰 </a:t>
            </a:r>
            <a:r>
              <a:rPr lang="en-US" altLang="ko-KR" sz="1800" dirty="0"/>
              <a:t>5 V USB </a:t>
            </a:r>
            <a:r>
              <a:rPr lang="ko-KR" altLang="en-US" sz="1800" dirty="0"/>
              <a:t>충전기 출력 필터</a:t>
            </a:r>
            <a:endParaRPr lang="en-US" altLang="ko-KR" sz="1800" dirty="0"/>
          </a:p>
          <a:p>
            <a:r>
              <a:rPr lang="ko-KR" altLang="en-US" sz="1800" dirty="0"/>
              <a:t>고주파까지 한 개의 전해만 쓰면 자체 </a:t>
            </a:r>
            <a:r>
              <a:rPr lang="en-US" altLang="ko-KR" sz="1800" dirty="0"/>
              <a:t>ESL </a:t>
            </a:r>
            <a:r>
              <a:rPr lang="ko-KR" altLang="en-US" sz="1800" dirty="0"/>
              <a:t>때문에 </a:t>
            </a:r>
            <a:r>
              <a:rPr lang="en-US" altLang="ko-KR" sz="1800" dirty="0"/>
              <a:t>100 kHz </a:t>
            </a:r>
            <a:r>
              <a:rPr lang="ko-KR" altLang="en-US" sz="1800" dirty="0"/>
              <a:t>이상에서 인덕터처럼 변해 </a:t>
            </a:r>
            <a:r>
              <a:rPr lang="ko-KR" altLang="en-US" sz="1800" b="1" dirty="0"/>
              <a:t>임피던스가 다시 상승</a:t>
            </a:r>
            <a:r>
              <a:rPr lang="ko-KR" altLang="en-US" sz="1800" dirty="0"/>
              <a:t>한다</a:t>
            </a:r>
            <a:r>
              <a:rPr lang="en-US" altLang="ko-KR" sz="1800" dirty="0"/>
              <a:t>. MLCC</a:t>
            </a:r>
            <a:r>
              <a:rPr lang="ko-KR" altLang="en-US" sz="1800" dirty="0"/>
              <a:t>를 병렬로 넣어야 그래프가 계속 낮게 유지된다</a:t>
            </a:r>
            <a:endParaRPr lang="en-US" altLang="ko-KR" sz="1800" dirty="0"/>
          </a:p>
          <a:p>
            <a:endParaRPr lang="en-US" altLang="ko-KR" sz="1800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81103A-ECA3-6A02-34BF-4BFA8D47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1DC0-AA86-4B7C-AD69-84BA54CE610B}" type="slidenum">
              <a:rPr lang="ko-KR" altLang="en-US" smtClean="0"/>
              <a:t>3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D2447CD-551C-1B8F-16E2-289DF9187F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488394"/>
              </p:ext>
            </p:extLst>
          </p:nvPr>
        </p:nvGraphicFramePr>
        <p:xfrm>
          <a:off x="838200" y="2962579"/>
          <a:ext cx="10278036" cy="3393771"/>
        </p:xfrm>
        <a:graphic>
          <a:graphicData uri="http://schemas.openxmlformats.org/drawingml/2006/table">
            <a:tbl>
              <a:tblPr/>
              <a:tblGrid>
                <a:gridCol w="3426012">
                  <a:extLst>
                    <a:ext uri="{9D8B030D-6E8A-4147-A177-3AD203B41FA5}">
                      <a16:colId xmlns:a16="http://schemas.microsoft.com/office/drawing/2014/main" val="2125626413"/>
                    </a:ext>
                  </a:extLst>
                </a:gridCol>
                <a:gridCol w="3426012">
                  <a:extLst>
                    <a:ext uri="{9D8B030D-6E8A-4147-A177-3AD203B41FA5}">
                      <a16:colId xmlns:a16="http://schemas.microsoft.com/office/drawing/2014/main" val="2002933749"/>
                    </a:ext>
                  </a:extLst>
                </a:gridCol>
                <a:gridCol w="3426012">
                  <a:extLst>
                    <a:ext uri="{9D8B030D-6E8A-4147-A177-3AD203B41FA5}">
                      <a16:colId xmlns:a16="http://schemas.microsoft.com/office/drawing/2014/main" val="2925498608"/>
                    </a:ext>
                  </a:extLst>
                </a:gridCol>
              </a:tblGrid>
              <a:tr h="315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/>
                        <a:t>요소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/>
                        <a:t>값</a:t>
                      </a:r>
                      <a:r>
                        <a:rPr lang="en-US" altLang="ko-KR" sz="1500" dirty="0"/>
                        <a:t>(</a:t>
                      </a:r>
                      <a:r>
                        <a:rPr lang="ko-KR" altLang="en-US" sz="1500" dirty="0"/>
                        <a:t>예시</a:t>
                      </a:r>
                      <a:r>
                        <a:rPr lang="en-US" altLang="ko-KR" sz="15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754540"/>
                  </a:ext>
                </a:extLst>
              </a:tr>
              <a:tr h="1024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R</a:t>
                      </a:r>
                      <a:r>
                        <a:rPr lang="en-US" sz="1500" dirty="0"/>
                        <a:t> (</a:t>
                      </a:r>
                      <a:r>
                        <a:rPr lang="ko-KR" altLang="en-US" sz="1500" dirty="0"/>
                        <a:t>시리즈</a:t>
                      </a:r>
                      <a:r>
                        <a:rPr lang="en-US" altLang="ko-KR" sz="15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500" dirty="0"/>
                        <a:t>0.2 Ω ~ 1 Ω (</a:t>
                      </a:r>
                      <a:r>
                        <a:rPr lang="ko-KR" altLang="en-US" sz="1500" dirty="0"/>
                        <a:t>와이어저항</a:t>
                      </a:r>
                      <a:r>
                        <a:rPr lang="en-US" altLang="ko-KR" sz="1500" dirty="0"/>
                        <a:t>·NTC·</a:t>
                      </a:r>
                      <a:r>
                        <a:rPr lang="ko-KR" altLang="en-US" sz="1500" dirty="0" err="1"/>
                        <a:t>저항칩</a:t>
                      </a:r>
                      <a:r>
                        <a:rPr lang="en-US" altLang="ko-KR" sz="15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 err="1"/>
                        <a:t>스위칭</a:t>
                      </a:r>
                      <a:r>
                        <a:rPr lang="ko-KR" altLang="en-US" sz="1500" dirty="0"/>
                        <a:t> </a:t>
                      </a:r>
                      <a:r>
                        <a:rPr lang="ko-KR" altLang="en-US" sz="1500" dirty="0" err="1"/>
                        <a:t>잔류리플을</a:t>
                      </a:r>
                      <a:r>
                        <a:rPr lang="ko-KR" altLang="en-US" sz="1500" dirty="0"/>
                        <a:t> </a:t>
                      </a:r>
                      <a:r>
                        <a:rPr lang="ko-KR" altLang="en-US" sz="1500" dirty="0" err="1"/>
                        <a:t>감쇄시키는</a:t>
                      </a:r>
                      <a:r>
                        <a:rPr lang="ko-KR" altLang="en-US" sz="1500" dirty="0"/>
                        <a:t> 전압</a:t>
                      </a:r>
                      <a:r>
                        <a:rPr lang="en-US" altLang="ko-KR" sz="1500" dirty="0"/>
                        <a:t>-</a:t>
                      </a:r>
                      <a:r>
                        <a:rPr lang="ko-KR" altLang="en-US" sz="1500" dirty="0"/>
                        <a:t>드롭 소자 </a:t>
                      </a:r>
                      <a:r>
                        <a:rPr lang="en-US" altLang="ko-KR" sz="1500" dirty="0">
                          <a:hlinkClick r:id="rId2"/>
                        </a:rPr>
                        <a:t>instructables.com</a:t>
                      </a:r>
                      <a:r>
                        <a:rPr lang="en-US" altLang="ko-KR" sz="1500" dirty="0">
                          <a:hlinkClick r:id="rId3"/>
                        </a:rPr>
                        <a:t>electronics-tutorials.ws</a:t>
                      </a:r>
                      <a:endParaRPr lang="ko-KR" altLang="en-US" sz="15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638256"/>
                  </a:ext>
                </a:extLst>
              </a:tr>
              <a:tr h="1024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C</a:t>
                      </a:r>
                      <a:r>
                        <a:rPr lang="en-US" sz="1500" dirty="0"/>
                        <a:t> (</a:t>
                      </a:r>
                      <a:r>
                        <a:rPr lang="ko-KR" altLang="en-US" sz="1500" dirty="0"/>
                        <a:t>바이패스</a:t>
                      </a:r>
                      <a:r>
                        <a:rPr lang="en-US" altLang="ko-KR" sz="15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470 µF / 10 V </a:t>
                      </a:r>
                      <a:r>
                        <a:rPr lang="ko-KR" altLang="en-US" sz="1500" dirty="0"/>
                        <a:t>전해 </a:t>
                      </a:r>
                      <a:r>
                        <a:rPr lang="en-US" altLang="ko-KR" sz="1500" dirty="0"/>
                        <a:t>+ 100 </a:t>
                      </a:r>
                      <a:r>
                        <a:rPr lang="en-US" sz="1500" dirty="0" err="1"/>
                        <a:t>nF</a:t>
                      </a:r>
                      <a:r>
                        <a:rPr lang="en-US" sz="1500" dirty="0"/>
                        <a:t> X7R MLCC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/>
                        <a:t>고주파부터 수 </a:t>
                      </a:r>
                      <a:r>
                        <a:rPr lang="en-US" altLang="ko-KR" sz="1500" dirty="0"/>
                        <a:t>kHz </a:t>
                      </a:r>
                      <a:r>
                        <a:rPr lang="ko-KR" altLang="en-US" sz="1500" dirty="0"/>
                        <a:t>대까지 노이즈를 우선 싱크 </a:t>
                      </a:r>
                      <a:r>
                        <a:rPr lang="en-US" altLang="ko-KR" sz="1500" dirty="0">
                          <a:hlinkClick r:id="rId2"/>
                        </a:rPr>
                        <a:t>instructables.com</a:t>
                      </a:r>
                      <a:r>
                        <a:rPr lang="en-US" altLang="ko-KR" sz="1500" dirty="0">
                          <a:hlinkClick r:id="rId4"/>
                        </a:rPr>
                        <a:t>instructables.com</a:t>
                      </a:r>
                      <a:endParaRPr lang="ko-KR" altLang="en-US" sz="15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024852"/>
                  </a:ext>
                </a:extLst>
              </a:tr>
              <a:tr h="1024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b="1" dirty="0"/>
                        <a:t>차단주파수</a:t>
                      </a:r>
                      <a:endParaRPr lang="ko-KR" altLang="en-US" sz="15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fc=1/2</a:t>
                      </a:r>
                      <a:r>
                        <a:rPr lang="el-GR" sz="1500" dirty="0"/>
                        <a:t>π</a:t>
                      </a:r>
                      <a:r>
                        <a:rPr lang="en-US" sz="1500" dirty="0"/>
                        <a:t>RC≈340 Hz</a:t>
                      </a:r>
                    </a:p>
                    <a:p>
                      <a:pPr>
                        <a:buNone/>
                      </a:pPr>
                      <a:r>
                        <a:rPr lang="en-US" sz="1500" dirty="0"/>
                        <a:t>(R = 0.47 </a:t>
                      </a:r>
                      <a:r>
                        <a:rPr lang="el-GR" sz="1500" dirty="0"/>
                        <a:t>Ω, </a:t>
                      </a:r>
                      <a:r>
                        <a:rPr lang="en-US" sz="1500" dirty="0"/>
                        <a:t>C = 1 mF)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dirty="0" err="1"/>
                        <a:t>스위칭</a:t>
                      </a:r>
                      <a:r>
                        <a:rPr lang="ko-KR" altLang="en-US" sz="1500" dirty="0"/>
                        <a:t> 주파수</a:t>
                      </a:r>
                      <a:r>
                        <a:rPr lang="en-US" altLang="ko-KR" sz="1500" dirty="0"/>
                        <a:t>(</a:t>
                      </a:r>
                      <a:r>
                        <a:rPr lang="ko-KR" altLang="en-US" sz="1500" dirty="0"/>
                        <a:t>數 백 </a:t>
                      </a:r>
                      <a:r>
                        <a:rPr lang="en-US" altLang="ko-KR" sz="1500" dirty="0"/>
                        <a:t>kHz)</a:t>
                      </a:r>
                      <a:r>
                        <a:rPr lang="ko-KR" altLang="en-US" sz="1500" dirty="0"/>
                        <a:t>보다 훨씬 낮아</a:t>
                      </a:r>
                      <a:r>
                        <a:rPr lang="ko-KR" altLang="en-US" sz="1500" b="1" dirty="0"/>
                        <a:t> </a:t>
                      </a:r>
                      <a:r>
                        <a:rPr lang="en-US" altLang="ko-KR" sz="1500" b="1" dirty="0"/>
                        <a:t>LPF </a:t>
                      </a:r>
                      <a:r>
                        <a:rPr lang="ko-KR" altLang="en-US" sz="1500" b="1" dirty="0"/>
                        <a:t>기능</a:t>
                      </a:r>
                      <a:r>
                        <a:rPr lang="ko-KR" altLang="en-US" sz="1500" dirty="0"/>
                        <a:t> </a:t>
                      </a:r>
                      <a:r>
                        <a:rPr lang="en-US" altLang="ko-KR" sz="1500" dirty="0">
                          <a:hlinkClick r:id="rId5"/>
                        </a:rPr>
                        <a:t>electronics.stackexchange.com</a:t>
                      </a:r>
                      <a:endParaRPr lang="ko-KR" altLang="en-US" sz="15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153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2553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73367-8698-47CF-EF5C-5614E3F78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E7D953E-E7A5-8800-204B-CB3714A17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1DC0-AA86-4B7C-AD69-84BA54CE610B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FDD22F-FA8F-29B9-2210-204332AAA658}"/>
              </a:ext>
            </a:extLst>
          </p:cNvPr>
          <p:cNvSpPr txBox="1"/>
          <p:nvPr/>
        </p:nvSpPr>
        <p:spPr>
          <a:xfrm>
            <a:off x="869576" y="76111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2. Design 1st order HPF, </a:t>
            </a:r>
            <a:r>
              <a:rPr lang="en-US" altLang="ko-KR" sz="2400" dirty="0" err="1"/>
              <a:t>ωc</a:t>
            </a:r>
            <a:r>
              <a:rPr lang="en-US" altLang="ko-KR" sz="2400" dirty="0"/>
              <a:t> = 1k rad/s </a:t>
            </a:r>
            <a:endParaRPr lang="ko-KR" altLang="en-US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C07CF8C-1FB6-649F-5F3A-3BB36315E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576" y="1599945"/>
            <a:ext cx="4810796" cy="182905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8B8530D-3782-49E1-4028-7079CF00E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19" y="3596012"/>
            <a:ext cx="7068924" cy="28406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5AD4DE-0568-3B5B-AF48-9FBF3DF30E71}"/>
              </a:ext>
            </a:extLst>
          </p:cNvPr>
          <p:cNvSpPr txBox="1"/>
          <p:nvPr/>
        </p:nvSpPr>
        <p:spPr>
          <a:xfrm>
            <a:off x="2698376" y="42394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 err="1"/>
              <a:t>ωc</a:t>
            </a:r>
            <a:r>
              <a:rPr lang="en-US" altLang="ko-KR" sz="1800" dirty="0"/>
              <a:t> = 1 / RC = 1 / 1m = 1k rad/s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635989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13BF4-9F5E-A429-8085-C02C37C4C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HPF</a:t>
            </a:r>
            <a:r>
              <a:rPr lang="ko-KR" altLang="en-US" dirty="0"/>
              <a:t>제품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287861-DBE7-5068-12EE-1F1025936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유선 이어폰</a:t>
            </a:r>
            <a:r>
              <a:rPr lang="en-US" altLang="ko-KR" dirty="0"/>
              <a:t>/</a:t>
            </a:r>
            <a:r>
              <a:rPr lang="ko-KR" altLang="en-US" dirty="0"/>
              <a:t>헤드폰 “커플링 콘덴서”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B6B27C-C7AC-0EC0-8208-F5EAAEFD0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1DC0-AA86-4B7C-AD69-84BA54CE610B}" type="slidenum">
              <a:rPr lang="ko-KR" altLang="en-US" smtClean="0"/>
              <a:t>5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6E4ED7C-BC23-AE6D-BD23-F66F68DAC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63791"/>
              </p:ext>
            </p:extLst>
          </p:nvPr>
        </p:nvGraphicFramePr>
        <p:xfrm>
          <a:off x="838200" y="2721134"/>
          <a:ext cx="10515600" cy="25603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1286838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210552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657633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요소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값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전형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이유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069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</a:t>
                      </a:r>
                      <a:r>
                        <a:rPr lang="en-US" dirty="0"/>
                        <a:t> (</a:t>
                      </a:r>
                      <a:r>
                        <a:rPr lang="ko-KR" altLang="en-US" dirty="0"/>
                        <a:t>직렬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47 µF / 4.7 V(</a:t>
                      </a:r>
                      <a:r>
                        <a:rPr lang="ko-KR" altLang="en-US" dirty="0" err="1"/>
                        <a:t>탄탈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전해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오디오 소스의 </a:t>
                      </a:r>
                      <a:r>
                        <a:rPr lang="en-US" altLang="ko-KR"/>
                        <a:t>DC </a:t>
                      </a:r>
                      <a:r>
                        <a:rPr lang="ko-KR" altLang="en-US"/>
                        <a:t>오프셋 차단 </a:t>
                      </a:r>
                      <a:r>
                        <a:rPr lang="en-US" altLang="ko-KR">
                          <a:hlinkClick r:id="rId2"/>
                        </a:rPr>
                        <a:t>ti.com</a:t>
                      </a:r>
                      <a:r>
                        <a:rPr lang="en-US" altLang="ko-KR">
                          <a:hlinkClick r:id="rId3"/>
                        </a:rPr>
                        <a:t>reddit.com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954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R_LOAD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32 Ω (</a:t>
                      </a:r>
                      <a:r>
                        <a:rPr lang="ko-KR" altLang="en-US" dirty="0"/>
                        <a:t>이어폰 드라이버 임피던스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부하가 동시에 </a:t>
                      </a:r>
                      <a:r>
                        <a:rPr lang="en-US"/>
                        <a:t>HPF</a:t>
                      </a:r>
                      <a:r>
                        <a:rPr lang="ko-KR" altLang="en-US"/>
                        <a:t>의 </a:t>
                      </a:r>
                      <a:r>
                        <a:rPr lang="en-US"/>
                        <a:t>R </a:t>
                      </a:r>
                      <a:r>
                        <a:rPr lang="ko-KR" altLang="en-US"/>
                        <a:t>역할 </a:t>
                      </a:r>
                      <a:r>
                        <a:rPr lang="en-US">
                          <a:hlinkClick r:id="rId4"/>
                        </a:rPr>
                        <a:t>electronics-tutorials.ws</a:t>
                      </a:r>
                      <a:r>
                        <a:rPr lang="en-US">
                          <a:hlinkClick r:id="rId5"/>
                        </a:rPr>
                        <a:t>fedevel.com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258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차단주파수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/>
                        <a:t>fc=1/2</a:t>
                      </a:r>
                      <a:r>
                        <a:rPr lang="el-GR" dirty="0"/>
                        <a:t>π</a:t>
                      </a:r>
                      <a:r>
                        <a:rPr lang="en-US" dirty="0"/>
                        <a:t>RC≈105Hzf_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(R = </a:t>
                      </a:r>
                      <a:r>
                        <a:rPr lang="en-US" altLang="ko-KR" dirty="0"/>
                        <a:t>32 Ω, 47 µF 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100 Hz </a:t>
                      </a:r>
                      <a:r>
                        <a:rPr lang="ko-KR" altLang="en-US" dirty="0"/>
                        <a:t>아래 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 err="1"/>
                        <a:t>저역</a:t>
                      </a:r>
                      <a:r>
                        <a:rPr lang="ko-KR" altLang="en-US" dirty="0"/>
                        <a:t> 노이즈 감쇄 </a:t>
                      </a:r>
                      <a:r>
                        <a:rPr lang="en-US" altLang="ko-KR" dirty="0">
                          <a:hlinkClick r:id="rId6"/>
                        </a:rPr>
                        <a:t>diyaudio.com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072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490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15AEB-6DF2-96FA-9805-2FA09185E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BDFE6FE-5B48-9380-DB02-0C81D9432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1DC0-AA86-4B7C-AD69-84BA54CE610B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C61A12-A445-2B37-3108-D93121E30BAD}"/>
              </a:ext>
            </a:extLst>
          </p:cNvPr>
          <p:cNvSpPr txBox="1"/>
          <p:nvPr/>
        </p:nvSpPr>
        <p:spPr>
          <a:xfrm>
            <a:off x="1174376" y="631576"/>
            <a:ext cx="97177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3. Design 1st order BPF, ωc1 = 1k rad/s, ωc2 = 1M rad/s</a:t>
            </a:r>
            <a:endParaRPr lang="ko-KR" altLang="en-US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1126FFD-B0A4-231F-17D5-3A4AB5463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109" y="3291953"/>
            <a:ext cx="7863809" cy="317325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DC50AE4-4A61-5F70-B89D-BD53E72C0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334" y="1352739"/>
            <a:ext cx="5487166" cy="15813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6623B1-5980-B8BD-3E16-DA60DEAEC970}"/>
              </a:ext>
            </a:extLst>
          </p:cNvPr>
          <p:cNvSpPr txBox="1"/>
          <p:nvPr/>
        </p:nvSpPr>
        <p:spPr>
          <a:xfrm>
            <a:off x="2698376" y="4276165"/>
            <a:ext cx="55222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ωc1 = 1 / RC = 1 / 1m = 1k rad/s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8E7F7A-BD0F-ACCD-0FCE-1B25C1CE8428}"/>
              </a:ext>
            </a:extLst>
          </p:cNvPr>
          <p:cNvSpPr txBox="1"/>
          <p:nvPr/>
        </p:nvSpPr>
        <p:spPr>
          <a:xfrm>
            <a:off x="4231340" y="3881402"/>
            <a:ext cx="3603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ωc2 = 1 / RC = 1 / 1u = 1M rad/s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753302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030EE-279D-7E67-A4CA-378CA3C49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FF9CCC-FFC0-7122-4F26-650B70F7C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BPF </a:t>
            </a:r>
            <a:r>
              <a:rPr lang="ko-KR" altLang="en-US" dirty="0"/>
              <a:t>제품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60C492-3DE4-235C-649F-93B3CA38F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/>
              <a:t>Electret </a:t>
            </a:r>
            <a:r>
              <a:rPr lang="ko-KR" altLang="en-US" sz="1800" dirty="0"/>
              <a:t>마이크 모듈의 수동 대역통과</a:t>
            </a:r>
            <a:endParaRPr lang="en-US" altLang="ko-KR" sz="1800" dirty="0"/>
          </a:p>
          <a:p>
            <a:r>
              <a:rPr lang="ko-KR" altLang="en-US" sz="1800" dirty="0"/>
              <a:t>두 개의 </a:t>
            </a:r>
            <a:r>
              <a:rPr lang="en-US" altLang="ko-KR" sz="1800" dirty="0"/>
              <a:t>1</a:t>
            </a:r>
            <a:r>
              <a:rPr lang="ko-KR" altLang="en-US" sz="1800" dirty="0"/>
              <a:t>차 </a:t>
            </a:r>
            <a:r>
              <a:rPr lang="en-US" altLang="ko-KR" sz="1800" dirty="0"/>
              <a:t>RC</a:t>
            </a:r>
            <a:r>
              <a:rPr lang="ko-KR" altLang="en-US" sz="1800" dirty="0"/>
              <a:t>를 직렬로 엮어 </a:t>
            </a:r>
            <a:r>
              <a:rPr lang="en-US" altLang="ko-KR" sz="1800" dirty="0"/>
              <a:t>“</a:t>
            </a:r>
            <a:r>
              <a:rPr lang="ko-KR" altLang="en-US" sz="1800" dirty="0"/>
              <a:t>음성 </a:t>
            </a:r>
            <a:r>
              <a:rPr lang="en-US" altLang="ko-KR" sz="1800" dirty="0"/>
              <a:t>BW” (≈ 100 Hz ~ 15 kHz) </a:t>
            </a:r>
            <a:r>
              <a:rPr lang="ko-KR" altLang="en-US" sz="1800" dirty="0"/>
              <a:t>대역통과를 만듭니다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300823-018A-F504-B532-A19954F1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01DC0-AA86-4B7C-AD69-84BA54CE610B}" type="slidenum">
              <a:rPr lang="ko-KR" altLang="en-US" smtClean="0"/>
              <a:t>7</a:t>
            </a:fld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E9BA8E3-A454-5174-AB1D-EB8DFF7885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01287"/>
              </p:ext>
            </p:extLst>
          </p:nvPr>
        </p:nvGraphicFramePr>
        <p:xfrm>
          <a:off x="838200" y="2766854"/>
          <a:ext cx="10515600" cy="24688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85763333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8468084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591173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563518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단계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R·C(</a:t>
                      </a:r>
                      <a:r>
                        <a:rPr lang="ko-KR" altLang="en-US" dirty="0"/>
                        <a:t>실제 </a:t>
                      </a:r>
                      <a:r>
                        <a:rPr lang="en-US" dirty="0"/>
                        <a:t>Silk)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코너주파수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기능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139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HPF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C=0.1 µF, R=15 k</a:t>
                      </a:r>
                      <a:r>
                        <a:rPr lang="el-GR" dirty="0"/>
                        <a:t>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fL</a:t>
                      </a:r>
                      <a:r>
                        <a:rPr lang="en-US" dirty="0"/>
                        <a:t> ≈ 106Hz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 err="1"/>
                        <a:t>풍절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 err="1"/>
                        <a:t>저역진동</a:t>
                      </a:r>
                      <a:r>
                        <a:rPr lang="ko-KR" altLang="en-US" dirty="0"/>
                        <a:t> 제거 </a:t>
                      </a:r>
                      <a:r>
                        <a:rPr lang="en-US" altLang="ko-KR" dirty="0"/>
                        <a:t>(</a:t>
                      </a:r>
                      <a:r>
                        <a:rPr lang="en-US" dirty="0">
                          <a:hlinkClick r:id="rId2" tooltip="High pass filter for electret mic to mobile phone"/>
                        </a:rPr>
                        <a:t>electronics.stackexchange.com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hlinkClick r:id="rId3" tooltip="Low-pass filter on electret mic breakout? - Adafruit Forums"/>
                        </a:rPr>
                        <a:t>forums.adafruit.com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819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LPF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R=10 k</a:t>
                      </a:r>
                      <a:r>
                        <a:rPr lang="el-GR" dirty="0"/>
                        <a:t>Ω, </a:t>
                      </a:r>
                      <a:r>
                        <a:rPr lang="en-US" dirty="0"/>
                        <a:t>C=1 </a:t>
                      </a:r>
                      <a:r>
                        <a:rPr lang="en-US" dirty="0" err="1"/>
                        <a:t>nF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fH</a:t>
                      </a:r>
                      <a:r>
                        <a:rPr lang="en-US" dirty="0"/>
                        <a:t> ≈ 16kHz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셀프</a:t>
                      </a:r>
                      <a:r>
                        <a:rPr lang="en-US" altLang="ko-KR" dirty="0"/>
                        <a:t>-</a:t>
                      </a:r>
                      <a:r>
                        <a:rPr lang="ko-KR" altLang="en-US" dirty="0" err="1"/>
                        <a:t>에일리어스</a:t>
                      </a:r>
                      <a:r>
                        <a:rPr lang="en-US" altLang="ko-KR" dirty="0"/>
                        <a:t>·</a:t>
                      </a:r>
                      <a:r>
                        <a:rPr lang="en-US" dirty="0"/>
                        <a:t>RF </a:t>
                      </a:r>
                      <a:r>
                        <a:rPr lang="ko-KR" altLang="en-US" dirty="0"/>
                        <a:t>방어 </a:t>
                      </a:r>
                      <a:r>
                        <a:rPr lang="en-US" altLang="ko-KR" dirty="0"/>
                        <a:t>(</a:t>
                      </a:r>
                      <a:r>
                        <a:rPr lang="en-US" dirty="0">
                          <a:hlinkClick r:id="rId4" tooltip="Simple Electret Microphone and Band-Pass Amplifier Circuit - Fiz-ix"/>
                        </a:rPr>
                        <a:t>fiz-ix.com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hlinkClick r:id="rId5" tooltip="Passive Band Pass Filter - Electronics Tutorials"/>
                        </a:rPr>
                        <a:t>electronics-tutorials.ws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467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2383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434</Words>
  <Application>Microsoft Office PowerPoint</Application>
  <PresentationFormat>와이드스크린</PresentationFormat>
  <Paragraphs>65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HW5</vt:lpstr>
      <vt:lpstr>PowerPoint 프레젠테이션</vt:lpstr>
      <vt:lpstr>LPF의 제품  </vt:lpstr>
      <vt:lpstr>PowerPoint 프레젠테이션</vt:lpstr>
      <vt:lpstr>HPF제품</vt:lpstr>
      <vt:lpstr>PowerPoint 프레젠테이션</vt:lpstr>
      <vt:lpstr>BPF 제품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민호 엄</dc:creator>
  <cp:lastModifiedBy>민호 엄</cp:lastModifiedBy>
  <cp:revision>1</cp:revision>
  <dcterms:created xsi:type="dcterms:W3CDTF">2025-07-05T04:00:21Z</dcterms:created>
  <dcterms:modified xsi:type="dcterms:W3CDTF">2025-07-05T06:26:03Z</dcterms:modified>
</cp:coreProperties>
</file>